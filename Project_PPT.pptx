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0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B6584-41A8-246E-01F2-877CD32800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A6F497-B1CF-EAF8-E630-5F3040E5D1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E9673-E3FC-150C-2AF4-969F24CB2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87A84-0DA7-49EE-BB7C-E86F39694E49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5BDD4-7E77-0DA3-93FE-AA2F92583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397B7-1D4D-181E-84F1-188B22A07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89E50-075D-4534-89A9-E92EEA7B8D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565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65E80-C936-1391-5B25-2E9C38A6B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F1A3C-6EAA-02C9-3E58-876F94EDD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49445-899C-6CEB-0072-EEEB88359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87A84-0DA7-49EE-BB7C-E86F39694E49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7D78F-6F47-4807-E0C9-BF471D56B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98EE0-B860-E097-BF69-5860659B0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89E50-075D-4534-89A9-E92EEA7B8D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243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79C0C-1DB7-214A-E319-FA2596F3C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FDB10-AA5F-C713-D814-C95098FCC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40A00-13D4-A6C8-E509-763542CBC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87A84-0DA7-49EE-BB7C-E86F39694E49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C5A6B-8C4E-9B51-6C34-31A32FFB2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A1339-2A54-02FF-9566-87F470795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89E50-075D-4534-89A9-E92EEA7B8D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870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5AB94-FF89-FA99-CBFA-3891B07F1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D29F4-7C2C-A994-0E55-0F61699AA1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9ECFA-85B6-9C19-CC1C-936CF982B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FFFE5-9F86-6FB8-5910-D0128E868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87A84-0DA7-49EE-BB7C-E86F39694E49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CFA47E-004C-4D15-F403-61C2A99D5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C6E548-541C-9AC6-C7A0-0AED307A7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89E50-075D-4534-89A9-E92EEA7B8D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083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089A7-4910-D34B-CF8A-ADD189AE7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9BFAD0-400E-4FD1-BACB-D8507E34F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B33B1F-DB4D-700B-143F-9273E637C0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9A6B77-46CC-C8B4-F9FD-FCDB37891F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80AC6B-DCFB-6734-4EE8-CC2B74FF2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EE3930-77E4-3375-0436-FFF7C546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87A84-0DA7-49EE-BB7C-E86F39694E49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F0B41B-3E71-E9CB-313B-69CE27C69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40A227-BDB4-9892-823F-CA314EED1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89E50-075D-4534-89A9-E92EEA7B8D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867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409CE-DEE7-F8CF-2053-8565A3083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BEBCBC-2AF6-D9B7-84A3-161DD70C7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87A84-0DA7-49EE-BB7C-E86F39694E49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00AFED-1530-76DF-7A17-A123E110B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ED9ECF-ADF1-DABB-6CE8-7EB0BBDEA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89E50-075D-4534-89A9-E92EEA7B8D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545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3F4B95-EA18-ED15-13ED-0FA7454D0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87A84-0DA7-49EE-BB7C-E86F39694E49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8EABD5-1834-5A44-7D30-2F1DD11FB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0FD31-F276-9C94-2169-D37DC28DB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89E50-075D-4534-89A9-E92EEA7B8D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91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47D6F-DC19-E927-92D7-3F4B556CF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6C5EF-EDB7-9C66-9494-D99CCA8C6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02EAB0-2568-8A58-7198-060BD96884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D861F-C571-40F9-804B-41BA767E9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87A84-0DA7-49EE-BB7C-E86F39694E49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424DC-C7A3-3604-D602-4A76BFE71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781781-9BA6-9739-51D6-3F875C5E1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89E50-075D-4534-89A9-E92EEA7B8D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713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6003B-75E3-B1D8-B4D7-15846CDD7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60F73C-3C98-AC6C-9D5A-8BC556223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137B5-69F7-4972-A460-66189E47D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AC8E8-9602-0340-D54B-F6133E81C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87A84-0DA7-49EE-BB7C-E86F39694E49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C02BEE-787E-5617-8E87-6193B7094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5A1C7-A5C0-73AC-91C4-87804E1C1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89E50-075D-4534-89A9-E92EEA7B8D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494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0A55B-CB3B-8F7E-6A97-16D2EA70A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C5DCD5-D248-0043-DDFD-BE91723AA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B6290-B4B8-8B4A-A513-C5A793262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87A84-0DA7-49EE-BB7C-E86F39694E49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4E5D6-11C8-BCD9-38C8-96C526A6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50030-AF69-1067-7284-AF894A60F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89E50-075D-4534-89A9-E92EEA7B8D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5216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029AA0-CFF8-8467-46D0-261D43AD6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D953F1-1040-0157-DC03-5A255F3E02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0D242-3D4F-2719-6581-7B02159DB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87A84-0DA7-49EE-BB7C-E86F39694E49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2A995-FEEB-FE02-F86F-054FB4C55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B93B-2F37-9018-FAF1-18626D3F3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89E50-075D-4534-89A9-E92EEA7B8D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0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0D2C28-8F2A-1115-E7DE-19E30B325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AF0FC-BC49-8B2D-9947-21BCF82B1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F4272-5B92-BC17-A2B8-AFFD19B9EC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587A84-0DA7-49EE-BB7C-E86F39694E49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08C78-9056-AA6F-AD2E-901B76B644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880F7-D946-7D09-8B5C-0946CF86F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E89E50-075D-4534-89A9-E92EEA7B8D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329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640104B-3D8C-0ABB-823C-9803335B1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959"/>
            <a:ext cx="12192000" cy="717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58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2BFFBB60-D5C0-550F-5347-254ACC8B2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36A3751D-0A60-8CF3-E8B7-47BD6CF7BAAC}"/>
              </a:ext>
            </a:extLst>
          </p:cNvPr>
          <p:cNvSpPr/>
          <p:nvPr/>
        </p:nvSpPr>
        <p:spPr>
          <a:xfrm>
            <a:off x="661475" y="545902"/>
            <a:ext cx="6296860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Introduction / Background</a:t>
            </a:r>
            <a:endParaRPr lang="en-US" sz="335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CDB88444-265F-8F1E-F924-94B31D2792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13954"/>
            <a:ext cx="6296860" cy="1002506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A82F9BBE-C468-1D5C-966A-BE4837558541}"/>
              </a:ext>
            </a:extLst>
          </p:cNvPr>
          <p:cNvSpPr/>
          <p:nvPr/>
        </p:nvSpPr>
        <p:spPr>
          <a:xfrm>
            <a:off x="927970" y="1504255"/>
            <a:ext cx="584006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 Global Health Crisis</a:t>
            </a:r>
            <a:endParaRPr lang="en-US" sz="165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9EA0C63B-F929-9289-C9C7-1A76CDA5A167}"/>
              </a:ext>
            </a:extLst>
          </p:cNvPr>
          <p:cNvSpPr/>
          <p:nvPr/>
        </p:nvSpPr>
        <p:spPr>
          <a:xfrm>
            <a:off x="927970" y="1864916"/>
            <a:ext cx="5840068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Heart disease is one of the leading causes of death worldwide.</a:t>
            </a:r>
            <a:endParaRPr lang="en-US" sz="1300" dirty="0"/>
          </a:p>
        </p:txBody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4E7A841D-A759-E032-E2E0-E429DC12DE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71638"/>
            <a:ext cx="6296860" cy="1002506"/>
          </a:xfrm>
          <a:prstGeom prst="rect">
            <a:avLst/>
          </a:prstGeom>
        </p:spPr>
      </p:pic>
      <p:sp>
        <p:nvSpPr>
          <p:cNvPr id="15" name="Text 3">
            <a:extLst>
              <a:ext uri="{FF2B5EF4-FFF2-40B4-BE49-F238E27FC236}">
                <a16:creationId xmlns:a16="http://schemas.microsoft.com/office/drawing/2014/main" id="{A4EEC92B-0ED1-C099-A8B7-25B4EE27D9D3}"/>
              </a:ext>
            </a:extLst>
          </p:cNvPr>
          <p:cNvSpPr/>
          <p:nvPr/>
        </p:nvSpPr>
        <p:spPr>
          <a:xfrm>
            <a:off x="927970" y="2661940"/>
            <a:ext cx="584006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Case for Early Detection</a:t>
            </a:r>
            <a:endParaRPr lang="en-US" sz="165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96E51E62-4BFC-21B6-3FD7-EDC5B1E3CBB0}"/>
              </a:ext>
            </a:extLst>
          </p:cNvPr>
          <p:cNvSpPr/>
          <p:nvPr/>
        </p:nvSpPr>
        <p:spPr>
          <a:xfrm>
            <a:off x="927970" y="3022600"/>
            <a:ext cx="5840068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Early identification of at-risk patients can support timely intervention.</a:t>
            </a:r>
            <a:endParaRPr lang="en-US" sz="1300" dirty="0"/>
          </a:p>
        </p:txBody>
      </p:sp>
      <p:pic>
        <p:nvPicPr>
          <p:cNvPr id="19" name="Image 3" descr="preencoded.png">
            <a:extLst>
              <a:ext uri="{FF2B5EF4-FFF2-40B4-BE49-F238E27FC236}">
                <a16:creationId xmlns:a16="http://schemas.microsoft.com/office/drawing/2014/main" id="{F27FEA4B-D6B4-D4F8-9414-3F0741D744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629323"/>
            <a:ext cx="6296860" cy="1263749"/>
          </a:xfrm>
          <a:prstGeom prst="rect">
            <a:avLst/>
          </a:prstGeom>
        </p:spPr>
      </p:pic>
      <p:sp>
        <p:nvSpPr>
          <p:cNvPr id="21" name="Text 5">
            <a:extLst>
              <a:ext uri="{FF2B5EF4-FFF2-40B4-BE49-F238E27FC236}">
                <a16:creationId xmlns:a16="http://schemas.microsoft.com/office/drawing/2014/main" id="{1ACC9CC0-DE1C-0047-3022-D018E23D6FA7}"/>
              </a:ext>
            </a:extLst>
          </p:cNvPr>
          <p:cNvSpPr/>
          <p:nvPr/>
        </p:nvSpPr>
        <p:spPr>
          <a:xfrm>
            <a:off x="927970" y="3819624"/>
            <a:ext cx="584006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Machine Learning Approach</a:t>
            </a:r>
            <a:endParaRPr lang="en-US" sz="165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77AFB65E-DFF7-7ED4-9534-6D82CCA8FCA9}"/>
              </a:ext>
            </a:extLst>
          </p:cNvPr>
          <p:cNvSpPr/>
          <p:nvPr/>
        </p:nvSpPr>
        <p:spPr>
          <a:xfrm>
            <a:off x="927970" y="4180284"/>
            <a:ext cx="5840068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project explores whether machine learning can learn patterns from historical clinical data and predict heart disease.</a:t>
            </a:r>
            <a:endParaRPr lang="en-US" sz="1300" dirty="0"/>
          </a:p>
        </p:txBody>
      </p:sp>
      <p:pic>
        <p:nvPicPr>
          <p:cNvPr id="25" name="Image 4" descr="preencoded.png">
            <a:extLst>
              <a:ext uri="{FF2B5EF4-FFF2-40B4-BE49-F238E27FC236}">
                <a16:creationId xmlns:a16="http://schemas.microsoft.com/office/drawing/2014/main" id="{0C14663D-EEC4-91FC-B69B-724A2A283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048250"/>
            <a:ext cx="6296860" cy="1263749"/>
          </a:xfrm>
          <a:prstGeom prst="rect">
            <a:avLst/>
          </a:prstGeom>
        </p:spPr>
      </p:pic>
      <p:sp>
        <p:nvSpPr>
          <p:cNvPr id="27" name="Text 7">
            <a:extLst>
              <a:ext uri="{FF2B5EF4-FFF2-40B4-BE49-F238E27FC236}">
                <a16:creationId xmlns:a16="http://schemas.microsoft.com/office/drawing/2014/main" id="{BDC69BD7-8BB4-0E1E-ADDC-1C9DDE708CE6}"/>
              </a:ext>
            </a:extLst>
          </p:cNvPr>
          <p:cNvSpPr/>
          <p:nvPr/>
        </p:nvSpPr>
        <p:spPr>
          <a:xfrm>
            <a:off x="927970" y="5238552"/>
            <a:ext cx="584006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Assisting, Not Replacing</a:t>
            </a:r>
            <a:endParaRPr lang="en-US" sz="1650" dirty="0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0BF52624-BC89-F88A-8678-06E712852B2F}"/>
              </a:ext>
            </a:extLst>
          </p:cNvPr>
          <p:cNvSpPr/>
          <p:nvPr/>
        </p:nvSpPr>
        <p:spPr>
          <a:xfrm>
            <a:off x="927970" y="5599212"/>
            <a:ext cx="5840068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Machine learning is intended to assist—not replace—clinical decision-making.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07976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555B0DD-20EF-D8D3-9DD3-F44A269EE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1008BD0F-2612-A900-4CD9-6A080AB91ADB}"/>
              </a:ext>
            </a:extLst>
          </p:cNvPr>
          <p:cNvSpPr/>
          <p:nvPr/>
        </p:nvSpPr>
        <p:spPr>
          <a:xfrm>
            <a:off x="4633201" y="1370112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Problem Statement</a:t>
            </a:r>
            <a:endParaRPr lang="en-US" sz="370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6E34C966-FD05-38AE-64E8-A01B578E2DFD}"/>
              </a:ext>
            </a:extLst>
          </p:cNvPr>
          <p:cNvSpPr/>
          <p:nvPr/>
        </p:nvSpPr>
        <p:spPr>
          <a:xfrm>
            <a:off x="4633201" y="2173387"/>
            <a:ext cx="425241" cy="42525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1D45948-B8F0-7389-6AA1-462276E3576B}"/>
              </a:ext>
            </a:extLst>
          </p:cNvPr>
          <p:cNvSpPr/>
          <p:nvPr/>
        </p:nvSpPr>
        <p:spPr>
          <a:xfrm>
            <a:off x="5247449" y="2238276"/>
            <a:ext cx="2719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Complex Manual Diagnosis</a:t>
            </a:r>
            <a:endParaRPr lang="en-US" sz="185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F53818A0-9C80-A643-50DD-9B5271C5BB30}"/>
              </a:ext>
            </a:extLst>
          </p:cNvPr>
          <p:cNvSpPr/>
          <p:nvPr/>
        </p:nvSpPr>
        <p:spPr>
          <a:xfrm>
            <a:off x="5247449" y="2722563"/>
            <a:ext cx="271922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Manual diagnosis requires a doctor to interpret many clinical measurements simultaneously.</a:t>
            </a:r>
            <a:endParaRPr lang="en-US" sz="145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8A733252-705D-0B46-2D17-E0D9FF8F09E2}"/>
              </a:ext>
            </a:extLst>
          </p:cNvPr>
          <p:cNvSpPr/>
          <p:nvPr/>
        </p:nvSpPr>
        <p:spPr>
          <a:xfrm>
            <a:off x="8202903" y="2173387"/>
            <a:ext cx="425241" cy="42525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346BCE40-18D8-AB99-4D30-3636E30EBCA5}"/>
              </a:ext>
            </a:extLst>
          </p:cNvPr>
          <p:cNvSpPr/>
          <p:nvPr/>
        </p:nvSpPr>
        <p:spPr>
          <a:xfrm>
            <a:off x="8817151" y="2238276"/>
            <a:ext cx="27193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Clinical Measurements</a:t>
            </a:r>
            <a:endParaRPr lang="en-US" sz="185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623F9F63-4B50-B603-1E7D-4B196DA0949A}"/>
              </a:ext>
            </a:extLst>
          </p:cNvPr>
          <p:cNvSpPr/>
          <p:nvPr/>
        </p:nvSpPr>
        <p:spPr>
          <a:xfrm>
            <a:off x="8817151" y="2722563"/>
            <a:ext cx="271931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Relevant measurements include age, blood pressure, cholesterol, ECG results, chest pain and other clinical features.</a:t>
            </a:r>
            <a:endParaRPr lang="en-US" sz="1450" dirty="0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79CB250E-0390-E61F-DFA9-1C2D4C2326E8}"/>
              </a:ext>
            </a:extLst>
          </p:cNvPr>
          <p:cNvSpPr/>
          <p:nvPr/>
        </p:nvSpPr>
        <p:spPr>
          <a:xfrm>
            <a:off x="4633201" y="4310261"/>
            <a:ext cx="425241" cy="42525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24AD7C5A-8B81-0DD2-380C-0D74102FDAA2}"/>
              </a:ext>
            </a:extLst>
          </p:cNvPr>
          <p:cNvSpPr/>
          <p:nvPr/>
        </p:nvSpPr>
        <p:spPr>
          <a:xfrm>
            <a:off x="5247449" y="4375150"/>
            <a:ext cx="62890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Project Goal</a:t>
            </a:r>
            <a:endParaRPr lang="en-US" sz="185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4613C4C1-7A06-3A22-CF9D-C544AD6FB8B9}"/>
              </a:ext>
            </a:extLst>
          </p:cNvPr>
          <p:cNvSpPr/>
          <p:nvPr/>
        </p:nvSpPr>
        <p:spPr>
          <a:xfrm>
            <a:off x="5247449" y="4859437"/>
            <a:ext cx="628902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project addresses the problem of predicting whether a patient has heart disease using a machine learning classifier.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1660363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BE2034D-D0AD-99EF-BD58-B610BEBC35C6}"/>
              </a:ext>
            </a:extLst>
          </p:cNvPr>
          <p:cNvSpPr/>
          <p:nvPr/>
        </p:nvSpPr>
        <p:spPr>
          <a:xfrm>
            <a:off x="661475" y="12538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Aim / Objectives of the Project</a:t>
            </a:r>
            <a:endParaRPr lang="en-US" sz="37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E011B6D-AB85-3D1E-73FE-AE3C89613A9C}"/>
              </a:ext>
            </a:extLst>
          </p:cNvPr>
          <p:cNvSpPr/>
          <p:nvPr/>
        </p:nvSpPr>
        <p:spPr>
          <a:xfrm>
            <a:off x="661475" y="2222500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45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C2C9C18D-B415-435C-59C2-533B77B26EFD}"/>
              </a:ext>
            </a:extLst>
          </p:cNvPr>
          <p:cNvSpPr/>
          <p:nvPr/>
        </p:nvSpPr>
        <p:spPr>
          <a:xfrm>
            <a:off x="661475" y="2518370"/>
            <a:ext cx="3496877" cy="254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63B1BC7-5F81-21C5-9B0B-D60E8E00CC4D}"/>
              </a:ext>
            </a:extLst>
          </p:cNvPr>
          <p:cNvSpPr/>
          <p:nvPr/>
        </p:nvSpPr>
        <p:spPr>
          <a:xfrm>
            <a:off x="661475" y="2663627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Explore the Dataset</a:t>
            </a:r>
            <a:endParaRPr lang="en-US" sz="185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7517D164-8362-855D-FE91-FF03A06CA517}"/>
              </a:ext>
            </a:extLst>
          </p:cNvPr>
          <p:cNvSpPr/>
          <p:nvPr/>
        </p:nvSpPr>
        <p:spPr>
          <a:xfrm>
            <a:off x="661475" y="3072309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Explore and understand the UCI Heart Disease dataset.</a:t>
            </a:r>
            <a:endParaRPr lang="en-US" sz="145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7576A7B7-6942-A67D-E0AB-37E881107FDC}"/>
              </a:ext>
            </a:extLst>
          </p:cNvPr>
          <p:cNvSpPr/>
          <p:nvPr/>
        </p:nvSpPr>
        <p:spPr>
          <a:xfrm>
            <a:off x="4347359" y="2222500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45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25BB2BC7-6C43-5287-1FFA-1726C0C06C2C}"/>
              </a:ext>
            </a:extLst>
          </p:cNvPr>
          <p:cNvSpPr/>
          <p:nvPr/>
        </p:nvSpPr>
        <p:spPr>
          <a:xfrm>
            <a:off x="4347359" y="2518370"/>
            <a:ext cx="3496877" cy="254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9B20240F-D999-6E4C-2EF2-6C2762CA63E8}"/>
              </a:ext>
            </a:extLst>
          </p:cNvPr>
          <p:cNvSpPr/>
          <p:nvPr/>
        </p:nvSpPr>
        <p:spPr>
          <a:xfrm>
            <a:off x="4347359" y="2663627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Preprocess Data</a:t>
            </a:r>
            <a:endParaRPr lang="en-US" sz="185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57FD6C84-E62F-60F1-0ED4-2A5F3F9EF31E}"/>
              </a:ext>
            </a:extLst>
          </p:cNvPr>
          <p:cNvSpPr/>
          <p:nvPr/>
        </p:nvSpPr>
        <p:spPr>
          <a:xfrm>
            <a:off x="4347359" y="3072309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Preprocess the data and prepare features (X) and target (Y).</a:t>
            </a:r>
            <a:endParaRPr lang="en-US" sz="145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68015E56-82C9-7EED-5CFB-8E8051628932}"/>
              </a:ext>
            </a:extLst>
          </p:cNvPr>
          <p:cNvSpPr/>
          <p:nvPr/>
        </p:nvSpPr>
        <p:spPr>
          <a:xfrm>
            <a:off x="8033244" y="2222500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45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285C681D-E5B8-986D-FAF8-733E731D6E22}"/>
              </a:ext>
            </a:extLst>
          </p:cNvPr>
          <p:cNvSpPr/>
          <p:nvPr/>
        </p:nvSpPr>
        <p:spPr>
          <a:xfrm>
            <a:off x="8033244" y="2518370"/>
            <a:ext cx="3496877" cy="254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B663014B-72C2-21CA-DB5B-A4595ACDF1BC}"/>
              </a:ext>
            </a:extLst>
          </p:cNvPr>
          <p:cNvSpPr/>
          <p:nvPr/>
        </p:nvSpPr>
        <p:spPr>
          <a:xfrm>
            <a:off x="8033244" y="2663627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Train the Model</a:t>
            </a:r>
            <a:endParaRPr lang="en-US" sz="185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69DECC2A-4889-BD93-0186-2DF3C65BAF65}"/>
              </a:ext>
            </a:extLst>
          </p:cNvPr>
          <p:cNvSpPr/>
          <p:nvPr/>
        </p:nvSpPr>
        <p:spPr>
          <a:xfrm>
            <a:off x="8033244" y="3072309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Train a Logistic Regression classifier for binary prediction.</a:t>
            </a:r>
            <a:endParaRPr lang="en-US" sz="145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8E4155B0-6F2A-E950-8750-F11A1D41AA12}"/>
              </a:ext>
            </a:extLst>
          </p:cNvPr>
          <p:cNvSpPr/>
          <p:nvPr/>
        </p:nvSpPr>
        <p:spPr>
          <a:xfrm>
            <a:off x="661475" y="400784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450" dirty="0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831739AF-AB13-703E-11F5-CD3B93961039}"/>
              </a:ext>
            </a:extLst>
          </p:cNvPr>
          <p:cNvSpPr/>
          <p:nvPr/>
        </p:nvSpPr>
        <p:spPr>
          <a:xfrm>
            <a:off x="661475" y="4303712"/>
            <a:ext cx="5339820" cy="254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AF7FC0D6-9203-15C0-DF1A-004B9CAA1E37}"/>
              </a:ext>
            </a:extLst>
          </p:cNvPr>
          <p:cNvSpPr/>
          <p:nvPr/>
        </p:nvSpPr>
        <p:spPr>
          <a:xfrm>
            <a:off x="661475" y="4448969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Evaluate Performance</a:t>
            </a:r>
            <a:endParaRPr lang="en-US" sz="1850" dirty="0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DA0B9107-9519-0BBB-D032-F3038CC99041}"/>
              </a:ext>
            </a:extLst>
          </p:cNvPr>
          <p:cNvSpPr/>
          <p:nvPr/>
        </p:nvSpPr>
        <p:spPr>
          <a:xfrm>
            <a:off x="661475" y="4857651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Evaluate the model using training/test accuracy and a confusion matrix.</a:t>
            </a:r>
            <a:endParaRPr lang="en-US" sz="1450" dirty="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D4DD842F-4841-C43B-2E8D-C7D594BB6E07}"/>
              </a:ext>
            </a:extLst>
          </p:cNvPr>
          <p:cNvSpPr/>
          <p:nvPr/>
        </p:nvSpPr>
        <p:spPr>
          <a:xfrm>
            <a:off x="6190301" y="400784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05</a:t>
            </a:r>
            <a:endParaRPr lang="en-US" sz="1450" dirty="0"/>
          </a:p>
        </p:txBody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841B2468-B99B-FA12-4347-0F4C51166435}"/>
              </a:ext>
            </a:extLst>
          </p:cNvPr>
          <p:cNvSpPr/>
          <p:nvPr/>
        </p:nvSpPr>
        <p:spPr>
          <a:xfrm>
            <a:off x="6190301" y="4303712"/>
            <a:ext cx="5339820" cy="254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B0FFA800-B3DD-CECF-77C2-0C3A123D306B}"/>
              </a:ext>
            </a:extLst>
          </p:cNvPr>
          <p:cNvSpPr/>
          <p:nvPr/>
        </p:nvSpPr>
        <p:spPr>
          <a:xfrm>
            <a:off x="6190301" y="4448969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Build Predictive System</a:t>
            </a:r>
            <a:endParaRPr lang="en-US" sz="1850" dirty="0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B5D579E3-440C-0D34-AABF-C398CBD919B9}"/>
              </a:ext>
            </a:extLst>
          </p:cNvPr>
          <p:cNvSpPr/>
          <p:nvPr/>
        </p:nvSpPr>
        <p:spPr>
          <a:xfrm>
            <a:off x="6190301" y="4857651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Build a simple predictive system for new patient records.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619280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BB8AF07-B40D-AC1C-49FE-BC583DE5E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CB8B9F68-F1AA-25CC-F41B-49464F803549}"/>
              </a:ext>
            </a:extLst>
          </p:cNvPr>
          <p:cNvSpPr/>
          <p:nvPr/>
        </p:nvSpPr>
        <p:spPr>
          <a:xfrm>
            <a:off x="5233360" y="570111"/>
            <a:ext cx="6296860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Literature Review / Existing System</a:t>
            </a:r>
            <a:endParaRPr lang="en-US" sz="315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EE7CBE50-3FBB-1BB0-3F70-6965E1BB09E8}"/>
              </a:ext>
            </a:extLst>
          </p:cNvPr>
          <p:cNvSpPr/>
          <p:nvPr/>
        </p:nvSpPr>
        <p:spPr>
          <a:xfrm>
            <a:off x="5233360" y="1287066"/>
            <a:ext cx="6296860" cy="1145580"/>
          </a:xfrm>
          <a:prstGeom prst="roundRect">
            <a:avLst>
              <a:gd name="adj" fmla="val 2127"/>
            </a:avLst>
          </a:prstGeom>
          <a:solidFill>
            <a:srgbClr val="F2EEEE"/>
          </a:solidFill>
          <a:ln/>
        </p:spPr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D2CD576D-338C-690A-DFDD-DF8387FAD3C6}"/>
              </a:ext>
            </a:extLst>
          </p:cNvPr>
          <p:cNvSpPr/>
          <p:nvPr/>
        </p:nvSpPr>
        <p:spPr>
          <a:xfrm>
            <a:off x="5395778" y="1449487"/>
            <a:ext cx="59720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Current Clinical Practice</a:t>
            </a:r>
            <a:endParaRPr lang="en-US" sz="155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5139BA9F-6322-0465-6374-6F075C799124}"/>
              </a:ext>
            </a:extLst>
          </p:cNvPr>
          <p:cNvSpPr/>
          <p:nvPr/>
        </p:nvSpPr>
        <p:spPr>
          <a:xfrm>
            <a:off x="5395778" y="1787029"/>
            <a:ext cx="5972026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Existing diagnosis relies heavily on clinical interpretation of multiple measurements.</a:t>
            </a:r>
            <a:endParaRPr lang="en-US" sz="125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72384DC4-2278-1500-A711-CC93BB6D6FFA}"/>
              </a:ext>
            </a:extLst>
          </p:cNvPr>
          <p:cNvSpPr/>
          <p:nvPr/>
        </p:nvSpPr>
        <p:spPr>
          <a:xfrm>
            <a:off x="5233360" y="2572147"/>
            <a:ext cx="6296860" cy="1145580"/>
          </a:xfrm>
          <a:prstGeom prst="roundRect">
            <a:avLst>
              <a:gd name="adj" fmla="val 2127"/>
            </a:avLst>
          </a:prstGeom>
          <a:solidFill>
            <a:srgbClr val="F2EEEE"/>
          </a:solidFill>
          <a:ln/>
        </p:spPr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A4A8A57B-D60D-30D8-3942-AF25C6526E9B}"/>
              </a:ext>
            </a:extLst>
          </p:cNvPr>
          <p:cNvSpPr/>
          <p:nvPr/>
        </p:nvSpPr>
        <p:spPr>
          <a:xfrm>
            <a:off x="5395778" y="2734568"/>
            <a:ext cx="59720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Source</a:t>
            </a:r>
            <a:endParaRPr lang="en-US" sz="155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0C2C3E80-0A30-72EF-DEE8-8907D91715FA}"/>
              </a:ext>
            </a:extLst>
          </p:cNvPr>
          <p:cNvSpPr/>
          <p:nvPr/>
        </p:nvSpPr>
        <p:spPr>
          <a:xfrm>
            <a:off x="5395778" y="3072110"/>
            <a:ext cx="5972026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uploaded project uses the UCI Heart Disease dataset (Cleveland subset) as the data source.</a:t>
            </a:r>
            <a:endParaRPr lang="en-US" sz="1250" dirty="0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AF921A46-0F60-B046-CF18-A2CE81F7FA5C}"/>
              </a:ext>
            </a:extLst>
          </p:cNvPr>
          <p:cNvSpPr/>
          <p:nvPr/>
        </p:nvSpPr>
        <p:spPr>
          <a:xfrm>
            <a:off x="5233360" y="3857228"/>
            <a:ext cx="6296860" cy="1145580"/>
          </a:xfrm>
          <a:prstGeom prst="roundRect">
            <a:avLst>
              <a:gd name="adj" fmla="val 2127"/>
            </a:avLst>
          </a:prstGeom>
          <a:solidFill>
            <a:srgbClr val="F2EEEE"/>
          </a:solidFill>
          <a:ln/>
        </p:spPr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071CC288-98DC-CF26-D7DD-E35E84B822DD}"/>
              </a:ext>
            </a:extLst>
          </p:cNvPr>
          <p:cNvSpPr/>
          <p:nvPr/>
        </p:nvSpPr>
        <p:spPr>
          <a:xfrm>
            <a:off x="5395778" y="4019649"/>
            <a:ext cx="59720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Existing Approach</a:t>
            </a:r>
            <a:endParaRPr lang="en-US" sz="155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E4792199-6850-9791-710A-72C714C2C029}"/>
              </a:ext>
            </a:extLst>
          </p:cNvPr>
          <p:cNvSpPr/>
          <p:nvPr/>
        </p:nvSpPr>
        <p:spPr>
          <a:xfrm>
            <a:off x="5395778" y="4357191"/>
            <a:ext cx="5972026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existing approach in this project is a supervised-learning pipeline using Logistic Regression.</a:t>
            </a:r>
            <a:endParaRPr lang="en-US" sz="1250" dirty="0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F1C64A45-A3C1-9267-B24A-167B2695018C}"/>
              </a:ext>
            </a:extLst>
          </p:cNvPr>
          <p:cNvSpPr/>
          <p:nvPr/>
        </p:nvSpPr>
        <p:spPr>
          <a:xfrm>
            <a:off x="5233360" y="5142309"/>
            <a:ext cx="6296860" cy="1145580"/>
          </a:xfrm>
          <a:prstGeom prst="roundRect">
            <a:avLst>
              <a:gd name="adj" fmla="val 2127"/>
            </a:avLst>
          </a:prstGeom>
          <a:solidFill>
            <a:srgbClr val="F2EEEE"/>
          </a:solidFill>
          <a:ln/>
        </p:spPr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1D2770CC-7C59-492D-06D9-17BDA7BA99DC}"/>
              </a:ext>
            </a:extLst>
          </p:cNvPr>
          <p:cNvSpPr/>
          <p:nvPr/>
        </p:nvSpPr>
        <p:spPr>
          <a:xfrm>
            <a:off x="5395778" y="5304730"/>
            <a:ext cx="5972026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Future Models</a:t>
            </a:r>
            <a:endParaRPr lang="en-US" sz="1550" dirty="0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FC8CE8EA-D810-02E0-F84A-F4F5F31861B3}"/>
              </a:ext>
            </a:extLst>
          </p:cNvPr>
          <p:cNvSpPr/>
          <p:nvPr/>
        </p:nvSpPr>
        <p:spPr>
          <a:xfrm>
            <a:off x="5395778" y="5642273"/>
            <a:ext cx="5972026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presentation identifies Random Forest, SVM and XGBoost as possible models for future comparison.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820977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15F8A0B-06C2-1F10-61B8-C2208B3C57FB}"/>
              </a:ext>
            </a:extLst>
          </p:cNvPr>
          <p:cNvSpPr/>
          <p:nvPr/>
        </p:nvSpPr>
        <p:spPr>
          <a:xfrm>
            <a:off x="661475" y="799604"/>
            <a:ext cx="3504219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Proposed Methodology / Approach</a:t>
            </a:r>
            <a:endParaRPr lang="en-US" sz="37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D9DEC05-7B86-5BFD-3260-47B57310C8F0}"/>
              </a:ext>
            </a:extLst>
          </p:cNvPr>
          <p:cNvSpPr/>
          <p:nvPr/>
        </p:nvSpPr>
        <p:spPr>
          <a:xfrm>
            <a:off x="661475" y="2760563"/>
            <a:ext cx="3504219" cy="3420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Load and inspect the dataset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Perform exploratory data analysis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Split features (X) and target (Y)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Train-test split: 80/20 with stratification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Train Logistic Regression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6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Evaluate accuracy and confusion matrix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7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 the trained model for prediction on new patient data</a:t>
            </a:r>
            <a:endParaRPr lang="en-US" sz="1450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D6AE57A0-560B-1615-8961-530C589EC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201" y="1875631"/>
            <a:ext cx="6903269" cy="3106539"/>
          </a:xfrm>
          <a:prstGeom prst="rect">
            <a:avLst/>
          </a:prstGeom>
        </p:spPr>
      </p:pic>
      <p:sp>
        <p:nvSpPr>
          <p:cNvPr id="9" name="Text 2">
            <a:extLst>
              <a:ext uri="{FF2B5EF4-FFF2-40B4-BE49-F238E27FC236}">
                <a16:creationId xmlns:a16="http://schemas.microsoft.com/office/drawing/2014/main" id="{32B6E9B0-E794-1DE4-135B-1609E16E884B}"/>
              </a:ext>
            </a:extLst>
          </p:cNvPr>
          <p:cNvSpPr/>
          <p:nvPr/>
        </p:nvSpPr>
        <p:spPr>
          <a:xfrm>
            <a:off x="5673055" y="2004656"/>
            <a:ext cx="1208069" cy="18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Load Data</a:t>
            </a:r>
            <a:endParaRPr lang="en-US" sz="115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19761C02-48C9-F1E2-7B24-D5ED0B11D9F8}"/>
              </a:ext>
            </a:extLst>
          </p:cNvPr>
          <p:cNvSpPr/>
          <p:nvPr/>
        </p:nvSpPr>
        <p:spPr>
          <a:xfrm>
            <a:off x="5673055" y="2244450"/>
            <a:ext cx="1208069" cy="298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Import and inspect the dataset</a:t>
            </a:r>
            <a:endParaRPr lang="en-US" sz="9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3E80923C-3742-FD8B-BBE0-BB69193B33BD}"/>
              </a:ext>
            </a:extLst>
          </p:cNvPr>
          <p:cNvSpPr/>
          <p:nvPr/>
        </p:nvSpPr>
        <p:spPr>
          <a:xfrm>
            <a:off x="6867849" y="4334560"/>
            <a:ext cx="1214706" cy="18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Exploratory</a:t>
            </a:r>
            <a:endParaRPr lang="en-US" sz="115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E694B329-8F3F-D949-B830-BFD641F0334B}"/>
              </a:ext>
            </a:extLst>
          </p:cNvPr>
          <p:cNvSpPr/>
          <p:nvPr/>
        </p:nvSpPr>
        <p:spPr>
          <a:xfrm>
            <a:off x="6867849" y="4574354"/>
            <a:ext cx="1214706" cy="298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Perform EDA and quality checks</a:t>
            </a:r>
            <a:endParaRPr lang="en-US" sz="9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7D885140-ECDC-FAB5-585F-FEE2AEC542FC}"/>
              </a:ext>
            </a:extLst>
          </p:cNvPr>
          <p:cNvSpPr/>
          <p:nvPr/>
        </p:nvSpPr>
        <p:spPr>
          <a:xfrm>
            <a:off x="8049365" y="1981423"/>
            <a:ext cx="1208069" cy="18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Feature Split</a:t>
            </a:r>
            <a:endParaRPr lang="en-US" sz="115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579B94F1-7A56-4C15-2951-D6A0CCCBFD86}"/>
              </a:ext>
            </a:extLst>
          </p:cNvPr>
          <p:cNvSpPr/>
          <p:nvPr/>
        </p:nvSpPr>
        <p:spPr>
          <a:xfrm>
            <a:off x="8049365" y="2221217"/>
            <a:ext cx="1208069" cy="298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Separate X features and Y target</a:t>
            </a:r>
            <a:endParaRPr lang="en-US" sz="9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6860DF5-9DCF-A72B-E6A2-151FBFCFB87C}"/>
              </a:ext>
            </a:extLst>
          </p:cNvPr>
          <p:cNvSpPr/>
          <p:nvPr/>
        </p:nvSpPr>
        <p:spPr>
          <a:xfrm>
            <a:off x="9244158" y="4334560"/>
            <a:ext cx="1208069" cy="18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Train-Test</a:t>
            </a:r>
            <a:endParaRPr lang="en-US" sz="115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3757890F-4AF6-803C-F0D8-9BA341FD467C}"/>
              </a:ext>
            </a:extLst>
          </p:cNvPr>
          <p:cNvSpPr/>
          <p:nvPr/>
        </p:nvSpPr>
        <p:spPr>
          <a:xfrm>
            <a:off x="9244158" y="4574354"/>
            <a:ext cx="1208069" cy="298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80/20 split with stratify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401886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B1DCA4A0-0F09-71B6-FAA6-14546896A616}"/>
              </a:ext>
            </a:extLst>
          </p:cNvPr>
          <p:cNvSpPr/>
          <p:nvPr/>
        </p:nvSpPr>
        <p:spPr>
          <a:xfrm>
            <a:off x="661475" y="106640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Tools, Technologies &amp; Dataset</a:t>
            </a:r>
            <a:endParaRPr lang="en-US" sz="370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BD0096E1-2446-5D40-6EF1-90367EACA56C}"/>
              </a:ext>
            </a:extLst>
          </p:cNvPr>
          <p:cNvSpPr/>
          <p:nvPr/>
        </p:nvSpPr>
        <p:spPr>
          <a:xfrm>
            <a:off x="661475" y="2153146"/>
            <a:ext cx="2507394" cy="1769566"/>
          </a:xfrm>
          <a:prstGeom prst="roundRect">
            <a:avLst>
              <a:gd name="adj" fmla="val 1602"/>
            </a:avLst>
          </a:prstGeom>
          <a:solidFill>
            <a:srgbClr val="F2EEEE"/>
          </a:solidFill>
          <a:ln/>
        </p:spPr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3F79D0CF-E93C-C80D-BB1E-8838CACB2302}"/>
              </a:ext>
            </a:extLst>
          </p:cNvPr>
          <p:cNvSpPr/>
          <p:nvPr/>
        </p:nvSpPr>
        <p:spPr>
          <a:xfrm>
            <a:off x="850482" y="2342158"/>
            <a:ext cx="21293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Dataset</a:t>
            </a:r>
            <a:endParaRPr lang="en-US" sz="185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7B94DEB8-BFC4-BAE4-A0C0-3BB1FAFA13FC}"/>
              </a:ext>
            </a:extLst>
          </p:cNvPr>
          <p:cNvSpPr/>
          <p:nvPr/>
        </p:nvSpPr>
        <p:spPr>
          <a:xfrm>
            <a:off x="850482" y="2826445"/>
            <a:ext cx="212938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UCI Heart Disease dataset — Cleveland subset</a:t>
            </a:r>
            <a:endParaRPr lang="en-US" sz="145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67256D51-BDAC-B207-69A4-A4FE25B9CA48}"/>
              </a:ext>
            </a:extLst>
          </p:cNvPr>
          <p:cNvSpPr/>
          <p:nvPr/>
        </p:nvSpPr>
        <p:spPr>
          <a:xfrm>
            <a:off x="3357875" y="2153146"/>
            <a:ext cx="2507394" cy="1769566"/>
          </a:xfrm>
          <a:prstGeom prst="roundRect">
            <a:avLst>
              <a:gd name="adj" fmla="val 1602"/>
            </a:avLst>
          </a:prstGeom>
          <a:solidFill>
            <a:srgbClr val="F2EEEE"/>
          </a:solidFill>
          <a:ln/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C08C2E02-D7BE-DBFF-4442-AF8771F5A6F4}"/>
              </a:ext>
            </a:extLst>
          </p:cNvPr>
          <p:cNvSpPr/>
          <p:nvPr/>
        </p:nvSpPr>
        <p:spPr>
          <a:xfrm>
            <a:off x="3546882" y="2342158"/>
            <a:ext cx="21293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Records</a:t>
            </a:r>
            <a:endParaRPr lang="en-US" sz="185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7F43F7B0-351D-AB1C-7BFE-FE169173C155}"/>
              </a:ext>
            </a:extLst>
          </p:cNvPr>
          <p:cNvSpPr/>
          <p:nvPr/>
        </p:nvSpPr>
        <p:spPr>
          <a:xfrm>
            <a:off x="3546882" y="2826445"/>
            <a:ext cx="212938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303 patient records</a:t>
            </a:r>
            <a:endParaRPr lang="en-US" sz="145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988920A8-BC3A-D723-C896-3B9F95334F72}"/>
              </a:ext>
            </a:extLst>
          </p:cNvPr>
          <p:cNvSpPr/>
          <p:nvPr/>
        </p:nvSpPr>
        <p:spPr>
          <a:xfrm>
            <a:off x="661475" y="4111724"/>
            <a:ext cx="2507394" cy="1467148"/>
          </a:xfrm>
          <a:prstGeom prst="roundRect">
            <a:avLst>
              <a:gd name="adj" fmla="val 1933"/>
            </a:avLst>
          </a:prstGeom>
          <a:solidFill>
            <a:srgbClr val="F2EEEE"/>
          </a:solidFill>
          <a:ln/>
        </p:spPr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14963E0A-2D43-534D-25C1-A70B1D2D27EA}"/>
              </a:ext>
            </a:extLst>
          </p:cNvPr>
          <p:cNvSpPr/>
          <p:nvPr/>
        </p:nvSpPr>
        <p:spPr>
          <a:xfrm>
            <a:off x="850482" y="4300736"/>
            <a:ext cx="21293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Columns</a:t>
            </a:r>
            <a:endParaRPr lang="en-US" sz="185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4E819D8B-6F00-C460-0E6A-3BCBEF50C855}"/>
              </a:ext>
            </a:extLst>
          </p:cNvPr>
          <p:cNvSpPr/>
          <p:nvPr/>
        </p:nvSpPr>
        <p:spPr>
          <a:xfrm>
            <a:off x="850482" y="4785023"/>
            <a:ext cx="21293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14 (13 clinical features + target)</a:t>
            </a:r>
            <a:endParaRPr lang="en-US" sz="145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E9BCA5D3-E245-2C02-BC47-768AA26FB222}"/>
              </a:ext>
            </a:extLst>
          </p:cNvPr>
          <p:cNvSpPr/>
          <p:nvPr/>
        </p:nvSpPr>
        <p:spPr>
          <a:xfrm>
            <a:off x="3357875" y="4111724"/>
            <a:ext cx="2507394" cy="1467148"/>
          </a:xfrm>
          <a:prstGeom prst="roundRect">
            <a:avLst>
              <a:gd name="adj" fmla="val 1933"/>
            </a:avLst>
          </a:prstGeom>
          <a:solidFill>
            <a:srgbClr val="F2EEEE"/>
          </a:solidFill>
          <a:ln/>
        </p:spPr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E15EE2DB-D341-9BB1-6221-BB052B8418F7}"/>
              </a:ext>
            </a:extLst>
          </p:cNvPr>
          <p:cNvSpPr/>
          <p:nvPr/>
        </p:nvSpPr>
        <p:spPr>
          <a:xfrm>
            <a:off x="3546882" y="4300736"/>
            <a:ext cx="21293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Target</a:t>
            </a:r>
            <a:endParaRPr lang="en-US" sz="185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52EE044B-65A4-72C1-9866-90EA45493A1A}"/>
              </a:ext>
            </a:extLst>
          </p:cNvPr>
          <p:cNvSpPr/>
          <p:nvPr/>
        </p:nvSpPr>
        <p:spPr>
          <a:xfrm>
            <a:off x="3546882" y="4785023"/>
            <a:ext cx="21293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 = presence of heart disease, 0 = healthy</a:t>
            </a:r>
            <a:endParaRPr lang="en-US" sz="1450" dirty="0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EC13CF96-1285-97F3-4023-56476ED70A8A}"/>
              </a:ext>
            </a:extLst>
          </p:cNvPr>
          <p:cNvSpPr/>
          <p:nvPr/>
        </p:nvSpPr>
        <p:spPr>
          <a:xfrm>
            <a:off x="6332776" y="2153146"/>
            <a:ext cx="2507394" cy="1517948"/>
          </a:xfrm>
          <a:prstGeom prst="roundRect">
            <a:avLst>
              <a:gd name="adj" fmla="val 1868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41F72DB1-1B9D-AC38-4172-CFF77DF84832}"/>
              </a:ext>
            </a:extLst>
          </p:cNvPr>
          <p:cNvSpPr/>
          <p:nvPr/>
        </p:nvSpPr>
        <p:spPr>
          <a:xfrm>
            <a:off x="6547182" y="2367558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Model</a:t>
            </a:r>
            <a:endParaRPr lang="en-US" sz="1850" dirty="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95357CB3-C41D-FBDE-27E3-41A02AA32ACA}"/>
              </a:ext>
            </a:extLst>
          </p:cNvPr>
          <p:cNvSpPr/>
          <p:nvPr/>
        </p:nvSpPr>
        <p:spPr>
          <a:xfrm>
            <a:off x="6547182" y="2851845"/>
            <a:ext cx="207858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Logistic Regression</a:t>
            </a:r>
            <a:endParaRPr lang="en-US" sz="1450" dirty="0"/>
          </a:p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26FC9378-FEE3-399A-338D-B427FC641BC0}"/>
              </a:ext>
            </a:extLst>
          </p:cNvPr>
          <p:cNvSpPr/>
          <p:nvPr/>
        </p:nvSpPr>
        <p:spPr>
          <a:xfrm>
            <a:off x="9029176" y="2153146"/>
            <a:ext cx="2507394" cy="1517948"/>
          </a:xfrm>
          <a:prstGeom prst="roundRect">
            <a:avLst>
              <a:gd name="adj" fmla="val 1868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5BB2C36D-CFB5-8603-B37C-976D26890179}"/>
              </a:ext>
            </a:extLst>
          </p:cNvPr>
          <p:cNvSpPr/>
          <p:nvPr/>
        </p:nvSpPr>
        <p:spPr>
          <a:xfrm>
            <a:off x="9243583" y="2367558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Training Setup</a:t>
            </a:r>
            <a:endParaRPr lang="en-US" sz="1850" dirty="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25CFDDDC-755D-42DF-8113-FF488844F1D7}"/>
              </a:ext>
            </a:extLst>
          </p:cNvPr>
          <p:cNvSpPr/>
          <p:nvPr/>
        </p:nvSpPr>
        <p:spPr>
          <a:xfrm>
            <a:off x="9243583" y="2851845"/>
            <a:ext cx="207858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242 training samples and 61 test samples</a:t>
            </a:r>
            <a:endParaRPr lang="en-US" sz="1450" dirty="0"/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CB018E49-CE68-D39C-77FE-51E4628835EC}"/>
              </a:ext>
            </a:extLst>
          </p:cNvPr>
          <p:cNvSpPr/>
          <p:nvPr/>
        </p:nvSpPr>
        <p:spPr>
          <a:xfrm>
            <a:off x="6332776" y="3860105"/>
            <a:ext cx="5203794" cy="1517948"/>
          </a:xfrm>
          <a:prstGeom prst="roundRect">
            <a:avLst>
              <a:gd name="adj" fmla="val 1868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EE9B4F83-BC9D-BFC6-F91D-97D5E0FD90FF}"/>
              </a:ext>
            </a:extLst>
          </p:cNvPr>
          <p:cNvSpPr/>
          <p:nvPr/>
        </p:nvSpPr>
        <p:spPr>
          <a:xfrm>
            <a:off x="6547182" y="4074517"/>
            <a:ext cx="47749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Quality</a:t>
            </a:r>
            <a:endParaRPr lang="en-US" sz="1850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55F4E554-6AA6-8C32-B7A5-E52570FF1CA4}"/>
              </a:ext>
            </a:extLst>
          </p:cNvPr>
          <p:cNvSpPr/>
          <p:nvPr/>
        </p:nvSpPr>
        <p:spPr>
          <a:xfrm>
            <a:off x="6547182" y="4558804"/>
            <a:ext cx="477498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missing values; categorical fields already numerically encoded.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91749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C9DC76E-D84E-12D7-B72D-51B40F02B297}"/>
              </a:ext>
            </a:extLst>
          </p:cNvPr>
          <p:cNvSpPr/>
          <p:nvPr/>
        </p:nvSpPr>
        <p:spPr>
          <a:xfrm>
            <a:off x="661475" y="519807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System Architecture / Flowchart</a:t>
            </a:r>
            <a:endParaRPr lang="en-US" sz="275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4BFAA466-E84E-2749-3B85-D327D50FC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21" y="1175445"/>
            <a:ext cx="10779153" cy="4648299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1B0EC573-D32B-AA5D-C5C5-27D878624051}"/>
              </a:ext>
            </a:extLst>
          </p:cNvPr>
          <p:cNvSpPr/>
          <p:nvPr/>
        </p:nvSpPr>
        <p:spPr>
          <a:xfrm>
            <a:off x="1431583" y="4942252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Model &amp; Evaluate</a:t>
            </a:r>
            <a:endParaRPr lang="en-US" sz="19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D3F6A57C-27F9-99E8-FD5C-5B0AB723B883}"/>
              </a:ext>
            </a:extLst>
          </p:cNvPr>
          <p:cNvSpPr/>
          <p:nvPr/>
        </p:nvSpPr>
        <p:spPr>
          <a:xfrm>
            <a:off x="1431583" y="3866246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Train/Test Split</a:t>
            </a:r>
            <a:endParaRPr lang="en-US" sz="19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86F1E7B4-5F64-2FA1-AB2E-C71FEECC9155}"/>
              </a:ext>
            </a:extLst>
          </p:cNvPr>
          <p:cNvSpPr/>
          <p:nvPr/>
        </p:nvSpPr>
        <p:spPr>
          <a:xfrm>
            <a:off x="1431583" y="2801109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Preparation</a:t>
            </a:r>
            <a:endParaRPr lang="en-US" sz="19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F7FC234A-5472-9DC4-5A36-63190C238D60}"/>
              </a:ext>
            </a:extLst>
          </p:cNvPr>
          <p:cNvSpPr/>
          <p:nvPr/>
        </p:nvSpPr>
        <p:spPr>
          <a:xfrm>
            <a:off x="1431583" y="1725102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Collection</a:t>
            </a:r>
            <a:endParaRPr lang="en-US" sz="19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9A85FB51-F3AB-847E-CD42-F2363BA1E751}"/>
              </a:ext>
            </a:extLst>
          </p:cNvPr>
          <p:cNvSpPr/>
          <p:nvPr/>
        </p:nvSpPr>
        <p:spPr>
          <a:xfrm>
            <a:off x="661475" y="5943302"/>
            <a:ext cx="1086874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end-to-end pipeline transforms raw clinical records into a binary prediction — indicating the presence or absence of heart disease — through a structured sequence of data preparation, model training, and evaluation steps.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791731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85192BF-97E8-DBA8-652C-A378A12FB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F277B639-A80E-CA54-67B1-F5E144A4A617}"/>
              </a:ext>
            </a:extLst>
          </p:cNvPr>
          <p:cNvSpPr/>
          <p:nvPr/>
        </p:nvSpPr>
        <p:spPr>
          <a:xfrm>
            <a:off x="661475" y="533202"/>
            <a:ext cx="6296860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Expected Outcomes</a:t>
            </a:r>
            <a:endParaRPr lang="en-US" sz="33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7981EC5E-5AB3-18E7-525C-2DC2F86D7FE1}"/>
              </a:ext>
            </a:extLst>
          </p:cNvPr>
          <p:cNvSpPr/>
          <p:nvPr/>
        </p:nvSpPr>
        <p:spPr>
          <a:xfrm>
            <a:off x="661475" y="1368227"/>
            <a:ext cx="3054770" cy="555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81.97%</a:t>
            </a:r>
            <a:endParaRPr lang="en-US" sz="435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2DC45D18-D9E0-D224-FB22-0E843DE46F24}"/>
              </a:ext>
            </a:extLst>
          </p:cNvPr>
          <p:cNvSpPr/>
          <p:nvPr/>
        </p:nvSpPr>
        <p:spPr>
          <a:xfrm>
            <a:off x="661475" y="2120305"/>
            <a:ext cx="305477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Test Accuracy</a:t>
            </a:r>
            <a:endParaRPr lang="en-US" sz="165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76BDBF66-4066-1B39-3B94-E82C701398AF}"/>
              </a:ext>
            </a:extLst>
          </p:cNvPr>
          <p:cNvSpPr/>
          <p:nvPr/>
        </p:nvSpPr>
        <p:spPr>
          <a:xfrm>
            <a:off x="661475" y="2473226"/>
            <a:ext cx="305477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Achieved on the unseen test set.</a:t>
            </a:r>
            <a:endParaRPr lang="en-US" sz="13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D1CB2221-81B0-3F9F-E314-C0EF12B46485}"/>
              </a:ext>
            </a:extLst>
          </p:cNvPr>
          <p:cNvSpPr/>
          <p:nvPr/>
        </p:nvSpPr>
        <p:spPr>
          <a:xfrm>
            <a:off x="3903565" y="1368227"/>
            <a:ext cx="3054770" cy="555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303</a:t>
            </a:r>
            <a:endParaRPr lang="en-US" sz="435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8390D912-9DE8-5BFA-6691-43ED96C0BA38}"/>
              </a:ext>
            </a:extLst>
          </p:cNvPr>
          <p:cNvSpPr/>
          <p:nvPr/>
        </p:nvSpPr>
        <p:spPr>
          <a:xfrm>
            <a:off x="3903565" y="2120305"/>
            <a:ext cx="305477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Patient Records</a:t>
            </a:r>
            <a:endParaRPr lang="en-US" sz="165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D55F8383-73BA-1525-CB66-160EE2A52875}"/>
              </a:ext>
            </a:extLst>
          </p:cNvPr>
          <p:cNvSpPr/>
          <p:nvPr/>
        </p:nvSpPr>
        <p:spPr>
          <a:xfrm>
            <a:off x="3903565" y="2473226"/>
            <a:ext cx="305477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Total records used in the study.</a:t>
            </a:r>
            <a:endParaRPr lang="en-US" sz="130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C7F30D02-E8A5-1BB9-0E9B-E9F5B1637F12}"/>
              </a:ext>
            </a:extLst>
          </p:cNvPr>
          <p:cNvSpPr/>
          <p:nvPr/>
        </p:nvSpPr>
        <p:spPr>
          <a:xfrm>
            <a:off x="2282470" y="3111798"/>
            <a:ext cx="3054770" cy="555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14</a:t>
            </a:r>
            <a:endParaRPr lang="en-US" sz="435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4E258FD1-1569-7381-65E9-579A655F89F4}"/>
              </a:ext>
            </a:extLst>
          </p:cNvPr>
          <p:cNvSpPr/>
          <p:nvPr/>
        </p:nvSpPr>
        <p:spPr>
          <a:xfrm>
            <a:off x="2282470" y="3863876"/>
            <a:ext cx="305477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Clinical Features</a:t>
            </a:r>
            <a:endParaRPr lang="en-US" sz="165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3B5BD1FD-585C-AD56-C88E-F5BECAC37150}"/>
              </a:ext>
            </a:extLst>
          </p:cNvPr>
          <p:cNvSpPr/>
          <p:nvPr/>
        </p:nvSpPr>
        <p:spPr>
          <a:xfrm>
            <a:off x="2282470" y="4216797"/>
            <a:ext cx="305477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13 features + 1 binary target variable.</a:t>
            </a:r>
            <a:endParaRPr lang="en-US" sz="13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3F04C0DC-0F9C-A10F-FFEC-CE18503578CE}"/>
              </a:ext>
            </a:extLst>
          </p:cNvPr>
          <p:cNvSpPr/>
          <p:nvPr/>
        </p:nvSpPr>
        <p:spPr>
          <a:xfrm>
            <a:off x="661475" y="4640064"/>
            <a:ext cx="6296860" cy="1684734"/>
          </a:xfrm>
          <a:prstGeom prst="rect">
            <a:avLst/>
          </a:prstGeom>
          <a:noFill/>
          <a:ln/>
        </p:spPr>
        <p:txBody>
          <a:bodyPr wrap="square" lIns="0" tIns="67338" rIns="0" bIns="0" rtlCol="0" anchor="t">
            <a:normAutofit/>
          </a:bodyPr>
          <a:lstStyle/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trained binary classification model for heart disease prediction.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confusion matrix for understanding correct and incorrect predictions.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reusable predictive system that accepts a new patient record and returns a prediction.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project demonstrates that clinical features contain predictive signal for heart disease risk.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815489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2222089-00FF-E9EF-301F-E287E15DB838}"/>
              </a:ext>
            </a:extLst>
          </p:cNvPr>
          <p:cNvSpPr/>
          <p:nvPr/>
        </p:nvSpPr>
        <p:spPr>
          <a:xfrm>
            <a:off x="661475" y="522089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Timeline / Workplan</a:t>
            </a:r>
            <a:endParaRPr lang="en-US" sz="265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FD87C09D-3806-CCDD-12B6-ED2DDC19FD16}"/>
              </a:ext>
            </a:extLst>
          </p:cNvPr>
          <p:cNvSpPr/>
          <p:nvPr/>
        </p:nvSpPr>
        <p:spPr>
          <a:xfrm>
            <a:off x="6086323" y="1141809"/>
            <a:ext cx="19050" cy="5194002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55605379-569D-1B53-0BE6-BE2796FE0085}"/>
              </a:ext>
            </a:extLst>
          </p:cNvPr>
          <p:cNvSpPr/>
          <p:nvPr/>
        </p:nvSpPr>
        <p:spPr>
          <a:xfrm>
            <a:off x="5554623" y="1285081"/>
            <a:ext cx="407481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95C3B260-8933-9547-9F47-AF70781E98D4}"/>
              </a:ext>
            </a:extLst>
          </p:cNvPr>
          <p:cNvSpPr/>
          <p:nvPr/>
        </p:nvSpPr>
        <p:spPr>
          <a:xfrm>
            <a:off x="5943054" y="1141809"/>
            <a:ext cx="305586" cy="305594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04C4A2AF-3D36-0BE5-9075-BEB26DBDCAF6}"/>
              </a:ext>
            </a:extLst>
          </p:cNvPr>
          <p:cNvSpPr/>
          <p:nvPr/>
        </p:nvSpPr>
        <p:spPr>
          <a:xfrm>
            <a:off x="5994002" y="1167259"/>
            <a:ext cx="203691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A199629C-F457-FA62-BFC8-5DFBCBB082A4}"/>
              </a:ext>
            </a:extLst>
          </p:cNvPr>
          <p:cNvSpPr/>
          <p:nvPr/>
        </p:nvSpPr>
        <p:spPr>
          <a:xfrm>
            <a:off x="661475" y="1188442"/>
            <a:ext cx="4755138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Phase 1</a:t>
            </a:r>
            <a:endParaRPr lang="en-US" sz="13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FD252445-0CC6-9506-A5E5-910135BBC955}"/>
              </a:ext>
            </a:extLst>
          </p:cNvPr>
          <p:cNvSpPr/>
          <p:nvPr/>
        </p:nvSpPr>
        <p:spPr>
          <a:xfrm>
            <a:off x="661475" y="1459309"/>
            <a:ext cx="4755138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Dataset collection and inspection</a:t>
            </a:r>
            <a:endParaRPr lang="en-US" sz="105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1AC6CBB6-C462-83A5-3381-C6D21C113AC9}"/>
              </a:ext>
            </a:extLst>
          </p:cNvPr>
          <p:cNvSpPr/>
          <p:nvPr/>
        </p:nvSpPr>
        <p:spPr>
          <a:xfrm>
            <a:off x="6229591" y="2023765"/>
            <a:ext cx="407481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E6770DB7-A1AD-C29D-F2D4-1D271C5625A0}"/>
              </a:ext>
            </a:extLst>
          </p:cNvPr>
          <p:cNvSpPr/>
          <p:nvPr/>
        </p:nvSpPr>
        <p:spPr>
          <a:xfrm>
            <a:off x="5943054" y="1880493"/>
            <a:ext cx="305586" cy="305594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C00297EC-EA23-71FD-07D6-A6C9182A6877}"/>
              </a:ext>
            </a:extLst>
          </p:cNvPr>
          <p:cNvSpPr/>
          <p:nvPr/>
        </p:nvSpPr>
        <p:spPr>
          <a:xfrm>
            <a:off x="5994002" y="1905943"/>
            <a:ext cx="203691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2D3A3251-23EB-3589-70E9-D1FACD4B78B3}"/>
              </a:ext>
            </a:extLst>
          </p:cNvPr>
          <p:cNvSpPr/>
          <p:nvPr/>
        </p:nvSpPr>
        <p:spPr>
          <a:xfrm>
            <a:off x="6775082" y="1927126"/>
            <a:ext cx="4755138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Phase 2</a:t>
            </a:r>
            <a:endParaRPr lang="en-US" sz="13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1B5A25E1-B423-35EC-2994-63496402D628}"/>
              </a:ext>
            </a:extLst>
          </p:cNvPr>
          <p:cNvSpPr/>
          <p:nvPr/>
        </p:nvSpPr>
        <p:spPr>
          <a:xfrm>
            <a:off x="6775082" y="2197993"/>
            <a:ext cx="4755138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Exploratory Data Analysis</a:t>
            </a:r>
            <a:endParaRPr lang="en-US" sz="105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287B6CC0-85FE-7F3A-A259-46A708755E23}"/>
              </a:ext>
            </a:extLst>
          </p:cNvPr>
          <p:cNvSpPr/>
          <p:nvPr/>
        </p:nvSpPr>
        <p:spPr>
          <a:xfrm>
            <a:off x="5554623" y="2688134"/>
            <a:ext cx="407481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055D8FEF-1A4A-3CC7-9FCA-D55274814509}"/>
              </a:ext>
            </a:extLst>
          </p:cNvPr>
          <p:cNvSpPr/>
          <p:nvPr/>
        </p:nvSpPr>
        <p:spPr>
          <a:xfrm>
            <a:off x="5943054" y="2544862"/>
            <a:ext cx="305586" cy="305594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177CEA7F-6E04-EFA3-6B0B-30BA38CFE9A2}"/>
              </a:ext>
            </a:extLst>
          </p:cNvPr>
          <p:cNvSpPr/>
          <p:nvPr/>
        </p:nvSpPr>
        <p:spPr>
          <a:xfrm>
            <a:off x="5994002" y="2570311"/>
            <a:ext cx="203691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289ABFCD-2FA7-17D6-8115-C6E3E5779184}"/>
              </a:ext>
            </a:extLst>
          </p:cNvPr>
          <p:cNvSpPr/>
          <p:nvPr/>
        </p:nvSpPr>
        <p:spPr>
          <a:xfrm>
            <a:off x="661475" y="2591495"/>
            <a:ext cx="4755138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Phase 3</a:t>
            </a:r>
            <a:endParaRPr lang="en-US" sz="1300" dirty="0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C20B8B87-296A-2AF8-7D42-9F6E671272DB}"/>
              </a:ext>
            </a:extLst>
          </p:cNvPr>
          <p:cNvSpPr/>
          <p:nvPr/>
        </p:nvSpPr>
        <p:spPr>
          <a:xfrm>
            <a:off x="661475" y="2862362"/>
            <a:ext cx="4755138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 preparation and train-test split</a:t>
            </a:r>
            <a:endParaRPr lang="en-US" sz="1050" dirty="0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A2BC373A-0451-5F38-EB6E-5A7B9EE455B8}"/>
              </a:ext>
            </a:extLst>
          </p:cNvPr>
          <p:cNvSpPr/>
          <p:nvPr/>
        </p:nvSpPr>
        <p:spPr>
          <a:xfrm>
            <a:off x="6229591" y="3352502"/>
            <a:ext cx="407481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9E9723A4-F4ED-B946-0B7A-1B5829E890D3}"/>
              </a:ext>
            </a:extLst>
          </p:cNvPr>
          <p:cNvSpPr/>
          <p:nvPr/>
        </p:nvSpPr>
        <p:spPr>
          <a:xfrm>
            <a:off x="5943054" y="3209230"/>
            <a:ext cx="305586" cy="305594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BE801B7D-89B6-50FB-287A-C703715005C6}"/>
              </a:ext>
            </a:extLst>
          </p:cNvPr>
          <p:cNvSpPr/>
          <p:nvPr/>
        </p:nvSpPr>
        <p:spPr>
          <a:xfrm>
            <a:off x="5994002" y="3234680"/>
            <a:ext cx="203691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7ADAE3BB-D58B-547D-C39C-895AA8E01AFC}"/>
              </a:ext>
            </a:extLst>
          </p:cNvPr>
          <p:cNvSpPr/>
          <p:nvPr/>
        </p:nvSpPr>
        <p:spPr>
          <a:xfrm>
            <a:off x="6775082" y="3255863"/>
            <a:ext cx="4755138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Phase 4</a:t>
            </a:r>
            <a:endParaRPr lang="en-US" sz="1300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676C0650-B871-3A6A-6406-CB5086328455}"/>
              </a:ext>
            </a:extLst>
          </p:cNvPr>
          <p:cNvSpPr/>
          <p:nvPr/>
        </p:nvSpPr>
        <p:spPr>
          <a:xfrm>
            <a:off x="6775082" y="3526730"/>
            <a:ext cx="4755138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Logistic Regression model training</a:t>
            </a:r>
            <a:endParaRPr lang="en-US" sz="1050" dirty="0"/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E393C17B-2A91-EE00-D243-B88A9BF12CA7}"/>
              </a:ext>
            </a:extLst>
          </p:cNvPr>
          <p:cNvSpPr/>
          <p:nvPr/>
        </p:nvSpPr>
        <p:spPr>
          <a:xfrm>
            <a:off x="5554623" y="4016871"/>
            <a:ext cx="407481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9D5DB516-E811-3164-A472-691F60459F34}"/>
              </a:ext>
            </a:extLst>
          </p:cNvPr>
          <p:cNvSpPr/>
          <p:nvPr/>
        </p:nvSpPr>
        <p:spPr>
          <a:xfrm>
            <a:off x="5943054" y="3873599"/>
            <a:ext cx="305586" cy="305594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1E6F3BFE-B77B-2AB8-F1CD-47B8A335C570}"/>
              </a:ext>
            </a:extLst>
          </p:cNvPr>
          <p:cNvSpPr/>
          <p:nvPr/>
        </p:nvSpPr>
        <p:spPr>
          <a:xfrm>
            <a:off x="5994002" y="3899049"/>
            <a:ext cx="203691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7D7CC29F-806D-81FA-878F-96A0CEF64B8D}"/>
              </a:ext>
            </a:extLst>
          </p:cNvPr>
          <p:cNvSpPr/>
          <p:nvPr/>
        </p:nvSpPr>
        <p:spPr>
          <a:xfrm>
            <a:off x="661475" y="3920232"/>
            <a:ext cx="4755138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Phase 5</a:t>
            </a:r>
            <a:endParaRPr lang="en-US" sz="1300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E6180BE9-7A15-11F8-BFF9-6874A4FA403F}"/>
              </a:ext>
            </a:extLst>
          </p:cNvPr>
          <p:cNvSpPr/>
          <p:nvPr/>
        </p:nvSpPr>
        <p:spPr>
          <a:xfrm>
            <a:off x="661475" y="4191099"/>
            <a:ext cx="4755138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Model evaluation using accuracy and confusion matrix</a:t>
            </a:r>
            <a:endParaRPr lang="en-US" sz="1050" dirty="0"/>
          </a:p>
        </p:txBody>
      </p:sp>
      <p:sp>
        <p:nvSpPr>
          <p:cNvPr id="57" name="Shape 27">
            <a:extLst>
              <a:ext uri="{FF2B5EF4-FFF2-40B4-BE49-F238E27FC236}">
                <a16:creationId xmlns:a16="http://schemas.microsoft.com/office/drawing/2014/main" id="{AA4FE450-0D31-19F8-DFCA-385F5541DC5F}"/>
              </a:ext>
            </a:extLst>
          </p:cNvPr>
          <p:cNvSpPr/>
          <p:nvPr/>
        </p:nvSpPr>
        <p:spPr>
          <a:xfrm>
            <a:off x="6229591" y="4681240"/>
            <a:ext cx="407481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59" name="Shape 28">
            <a:extLst>
              <a:ext uri="{FF2B5EF4-FFF2-40B4-BE49-F238E27FC236}">
                <a16:creationId xmlns:a16="http://schemas.microsoft.com/office/drawing/2014/main" id="{4AB9741F-9101-C7AD-D5CB-32EA90CD0118}"/>
              </a:ext>
            </a:extLst>
          </p:cNvPr>
          <p:cNvSpPr/>
          <p:nvPr/>
        </p:nvSpPr>
        <p:spPr>
          <a:xfrm>
            <a:off x="5943054" y="4537968"/>
            <a:ext cx="305586" cy="305594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61" name="Text 29">
            <a:extLst>
              <a:ext uri="{FF2B5EF4-FFF2-40B4-BE49-F238E27FC236}">
                <a16:creationId xmlns:a16="http://schemas.microsoft.com/office/drawing/2014/main" id="{461B4118-03BE-A300-A5D1-A5DD1C8ECBD2}"/>
              </a:ext>
            </a:extLst>
          </p:cNvPr>
          <p:cNvSpPr/>
          <p:nvPr/>
        </p:nvSpPr>
        <p:spPr>
          <a:xfrm>
            <a:off x="5994002" y="4563418"/>
            <a:ext cx="203691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6</a:t>
            </a:r>
            <a:endParaRPr lang="en-US" sz="1600" dirty="0"/>
          </a:p>
        </p:txBody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0C9C5323-0AD5-B2D0-1B61-E3F25E061A8B}"/>
              </a:ext>
            </a:extLst>
          </p:cNvPr>
          <p:cNvSpPr/>
          <p:nvPr/>
        </p:nvSpPr>
        <p:spPr>
          <a:xfrm>
            <a:off x="6775082" y="4584601"/>
            <a:ext cx="4755138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Phase 6</a:t>
            </a:r>
            <a:endParaRPr lang="en-US" sz="1300" dirty="0"/>
          </a:p>
        </p:txBody>
      </p:sp>
      <p:sp>
        <p:nvSpPr>
          <p:cNvPr id="65" name="Text 31">
            <a:extLst>
              <a:ext uri="{FF2B5EF4-FFF2-40B4-BE49-F238E27FC236}">
                <a16:creationId xmlns:a16="http://schemas.microsoft.com/office/drawing/2014/main" id="{FE2D065C-367B-13CA-578C-EBB2A4AB2C60}"/>
              </a:ext>
            </a:extLst>
          </p:cNvPr>
          <p:cNvSpPr/>
          <p:nvPr/>
        </p:nvSpPr>
        <p:spPr>
          <a:xfrm>
            <a:off x="6775082" y="4855468"/>
            <a:ext cx="4755138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Predictive-system implementation</a:t>
            </a:r>
            <a:endParaRPr lang="en-US" sz="1050" dirty="0"/>
          </a:p>
        </p:txBody>
      </p:sp>
      <p:sp>
        <p:nvSpPr>
          <p:cNvPr id="67" name="Shape 32">
            <a:extLst>
              <a:ext uri="{FF2B5EF4-FFF2-40B4-BE49-F238E27FC236}">
                <a16:creationId xmlns:a16="http://schemas.microsoft.com/office/drawing/2014/main" id="{F06C9730-0E51-AD95-84D9-D51E62308FBA}"/>
              </a:ext>
            </a:extLst>
          </p:cNvPr>
          <p:cNvSpPr/>
          <p:nvPr/>
        </p:nvSpPr>
        <p:spPr>
          <a:xfrm>
            <a:off x="5554623" y="5345609"/>
            <a:ext cx="407481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69" name="Shape 33">
            <a:extLst>
              <a:ext uri="{FF2B5EF4-FFF2-40B4-BE49-F238E27FC236}">
                <a16:creationId xmlns:a16="http://schemas.microsoft.com/office/drawing/2014/main" id="{C9C6AC45-AEBE-2BD6-9A3C-7EC87897D95B}"/>
              </a:ext>
            </a:extLst>
          </p:cNvPr>
          <p:cNvSpPr/>
          <p:nvPr/>
        </p:nvSpPr>
        <p:spPr>
          <a:xfrm>
            <a:off x="5943054" y="5202337"/>
            <a:ext cx="305586" cy="305594"/>
          </a:xfrm>
          <a:prstGeom prst="roundRect">
            <a:avLst>
              <a:gd name="adj" fmla="val 6669"/>
            </a:avLst>
          </a:prstGeom>
          <a:solidFill>
            <a:srgbClr val="F2EEEE"/>
          </a:solidFill>
          <a:ln/>
        </p:spPr>
      </p:sp>
      <p:sp>
        <p:nvSpPr>
          <p:cNvPr id="71" name="Text 34">
            <a:extLst>
              <a:ext uri="{FF2B5EF4-FFF2-40B4-BE49-F238E27FC236}">
                <a16:creationId xmlns:a16="http://schemas.microsoft.com/office/drawing/2014/main" id="{F0FC806D-D0CB-8817-A145-73A16E2D640E}"/>
              </a:ext>
            </a:extLst>
          </p:cNvPr>
          <p:cNvSpPr/>
          <p:nvPr/>
        </p:nvSpPr>
        <p:spPr>
          <a:xfrm>
            <a:off x="5994002" y="5227786"/>
            <a:ext cx="203691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7</a:t>
            </a:r>
            <a:endParaRPr lang="en-US" sz="1600" dirty="0"/>
          </a:p>
        </p:txBody>
      </p:sp>
      <p:sp>
        <p:nvSpPr>
          <p:cNvPr id="73" name="Text 35">
            <a:extLst>
              <a:ext uri="{FF2B5EF4-FFF2-40B4-BE49-F238E27FC236}">
                <a16:creationId xmlns:a16="http://schemas.microsoft.com/office/drawing/2014/main" id="{5FDF3576-20C5-CB4C-E5A0-75EEE006CD6B}"/>
              </a:ext>
            </a:extLst>
          </p:cNvPr>
          <p:cNvSpPr/>
          <p:nvPr/>
        </p:nvSpPr>
        <p:spPr>
          <a:xfrm>
            <a:off x="661475" y="5248970"/>
            <a:ext cx="4755138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Phase 7</a:t>
            </a:r>
            <a:endParaRPr lang="en-US" sz="1300" dirty="0"/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6344190B-2E59-4EDD-D6FB-E365FFAB3FBD}"/>
              </a:ext>
            </a:extLst>
          </p:cNvPr>
          <p:cNvSpPr/>
          <p:nvPr/>
        </p:nvSpPr>
        <p:spPr>
          <a:xfrm>
            <a:off x="661475" y="5519837"/>
            <a:ext cx="4755138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Documentation and presentation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19364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9054190-6104-2B79-DCA0-333857EE16EA}"/>
              </a:ext>
            </a:extLst>
          </p:cNvPr>
          <p:cNvSpPr/>
          <p:nvPr/>
        </p:nvSpPr>
        <p:spPr>
          <a:xfrm>
            <a:off x="661475" y="554038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Challenges Faced</a:t>
            </a:r>
            <a:endParaRPr lang="en-US" sz="36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82015BE0-02AE-6918-BF92-7D47A3744F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0133" y="1486595"/>
            <a:ext cx="274631" cy="274638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C2A3504D-7BB4-95CB-396F-2BDB562F7AC3}"/>
              </a:ext>
            </a:extLst>
          </p:cNvPr>
          <p:cNvSpPr/>
          <p:nvPr/>
        </p:nvSpPr>
        <p:spPr>
          <a:xfrm>
            <a:off x="1256475" y="1480939"/>
            <a:ext cx="102737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Small Dataset</a:t>
            </a:r>
            <a:endParaRPr lang="en-US" sz="18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73CE9BAD-F97F-0B39-CA53-21C07B75C54F}"/>
              </a:ext>
            </a:extLst>
          </p:cNvPr>
          <p:cNvSpPr/>
          <p:nvPr/>
        </p:nvSpPr>
        <p:spPr>
          <a:xfrm>
            <a:off x="1256475" y="1873349"/>
            <a:ext cx="1027374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Working with a relatively small dataset of only 303 patient records.</a:t>
            </a:r>
            <a:endParaRPr lang="en-US" sz="1400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C1735C6F-D40A-00F0-2B24-1C5162EB24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0133" y="2522141"/>
            <a:ext cx="274631" cy="274638"/>
          </a:xfrm>
          <a:prstGeom prst="rect">
            <a:avLst/>
          </a:prstGeom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EE68C8D8-BA6C-7AFE-8941-ED6CDD45324B}"/>
              </a:ext>
            </a:extLst>
          </p:cNvPr>
          <p:cNvSpPr/>
          <p:nvPr/>
        </p:nvSpPr>
        <p:spPr>
          <a:xfrm>
            <a:off x="1256475" y="2516485"/>
            <a:ext cx="102737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Multi-Feature Interpretation</a:t>
            </a:r>
            <a:endParaRPr lang="en-US" sz="18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1D231031-CB6D-061F-6B68-53414768F1E1}"/>
              </a:ext>
            </a:extLst>
          </p:cNvPr>
          <p:cNvSpPr/>
          <p:nvPr/>
        </p:nvSpPr>
        <p:spPr>
          <a:xfrm>
            <a:off x="1256475" y="2908895"/>
            <a:ext cx="1027374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Interpreting multiple clinical features together rather than relying on a single feature.</a:t>
            </a:r>
            <a:endParaRPr lang="en-US" sz="1400" dirty="0"/>
          </a:p>
        </p:txBody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390B69F7-A64E-7D90-2D17-BDE242B13A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0133" y="3557687"/>
            <a:ext cx="274631" cy="274638"/>
          </a:xfrm>
          <a:prstGeom prst="rect">
            <a:avLst/>
          </a:prstGeom>
        </p:spPr>
      </p:pic>
      <p:sp>
        <p:nvSpPr>
          <p:cNvPr id="19" name="Text 5">
            <a:extLst>
              <a:ext uri="{FF2B5EF4-FFF2-40B4-BE49-F238E27FC236}">
                <a16:creationId xmlns:a16="http://schemas.microsoft.com/office/drawing/2014/main" id="{AB587626-AEB1-66BF-13BA-0D4F83D127E4}"/>
              </a:ext>
            </a:extLst>
          </p:cNvPr>
          <p:cNvSpPr/>
          <p:nvPr/>
        </p:nvSpPr>
        <p:spPr>
          <a:xfrm>
            <a:off x="1256475" y="3552031"/>
            <a:ext cx="102737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Class Balance</a:t>
            </a:r>
            <a:endParaRPr lang="en-US" sz="18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55B4C52C-C23F-0F0E-E6AE-530F69D8D3DC}"/>
              </a:ext>
            </a:extLst>
          </p:cNvPr>
          <p:cNvSpPr/>
          <p:nvPr/>
        </p:nvSpPr>
        <p:spPr>
          <a:xfrm>
            <a:off x="1256475" y="3944441"/>
            <a:ext cx="1027374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Ensuring the train/test split maintains class balance through stratification.</a:t>
            </a:r>
            <a:endParaRPr lang="en-US" sz="1400" dirty="0"/>
          </a:p>
        </p:txBody>
      </p:sp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14B5E0BB-F2C2-0330-A5F8-8124F2E037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0133" y="4593233"/>
            <a:ext cx="274631" cy="274638"/>
          </a:xfrm>
          <a:prstGeom prst="rect">
            <a:avLst/>
          </a:prstGeom>
        </p:spPr>
      </p:pic>
      <p:sp>
        <p:nvSpPr>
          <p:cNvPr id="25" name="Text 7">
            <a:extLst>
              <a:ext uri="{FF2B5EF4-FFF2-40B4-BE49-F238E27FC236}">
                <a16:creationId xmlns:a16="http://schemas.microsoft.com/office/drawing/2014/main" id="{94820937-ED30-D09D-542F-DBE8C3CA171B}"/>
              </a:ext>
            </a:extLst>
          </p:cNvPr>
          <p:cNvSpPr/>
          <p:nvPr/>
        </p:nvSpPr>
        <p:spPr>
          <a:xfrm>
            <a:off x="1256475" y="4587577"/>
            <a:ext cx="102737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Accuracy Limitations</a:t>
            </a:r>
            <a:endParaRPr lang="en-US" sz="180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0B683656-925F-A655-7597-429B65A95C94}"/>
              </a:ext>
            </a:extLst>
          </p:cNvPr>
          <p:cNvSpPr/>
          <p:nvPr/>
        </p:nvSpPr>
        <p:spPr>
          <a:xfrm>
            <a:off x="1256475" y="4979988"/>
            <a:ext cx="1027374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Avoiding over-interpretation of model accuracy on a small public dataset.</a:t>
            </a:r>
            <a:endParaRPr lang="en-US" sz="1400" dirty="0"/>
          </a:p>
        </p:txBody>
      </p:sp>
      <p:pic>
        <p:nvPicPr>
          <p:cNvPr id="29" name="Image 4" descr="preencoded.png">
            <a:extLst>
              <a:ext uri="{FF2B5EF4-FFF2-40B4-BE49-F238E27FC236}">
                <a16:creationId xmlns:a16="http://schemas.microsoft.com/office/drawing/2014/main" id="{679B6120-5007-C898-D6F3-0CE7F8F380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0133" y="5628779"/>
            <a:ext cx="274631" cy="274638"/>
          </a:xfrm>
          <a:prstGeom prst="rect">
            <a:avLst/>
          </a:prstGeom>
        </p:spPr>
      </p:pic>
      <p:sp>
        <p:nvSpPr>
          <p:cNvPr id="31" name="Text 9">
            <a:extLst>
              <a:ext uri="{FF2B5EF4-FFF2-40B4-BE49-F238E27FC236}">
                <a16:creationId xmlns:a16="http://schemas.microsoft.com/office/drawing/2014/main" id="{D9E96A90-5371-07A5-FB41-AD4786FBF839}"/>
              </a:ext>
            </a:extLst>
          </p:cNvPr>
          <p:cNvSpPr/>
          <p:nvPr/>
        </p:nvSpPr>
        <p:spPr>
          <a:xfrm>
            <a:off x="1256475" y="5623123"/>
            <a:ext cx="1027374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Scope Disclaimer</a:t>
            </a:r>
            <a:endParaRPr lang="en-US" sz="1800" dirty="0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A4BECB21-6FDD-559C-B0D4-298D3A81F905}"/>
              </a:ext>
            </a:extLst>
          </p:cNvPr>
          <p:cNvSpPr/>
          <p:nvPr/>
        </p:nvSpPr>
        <p:spPr>
          <a:xfrm>
            <a:off x="1256475" y="6015534"/>
            <a:ext cx="1027374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model is a learning project and is not a certified diagnostic tool.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31346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3655395-7713-A033-8DAC-991876ECD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7F8C3CDD-014F-E04A-F908-1532ADD6BCC1}"/>
              </a:ext>
            </a:extLst>
          </p:cNvPr>
          <p:cNvSpPr/>
          <p:nvPr/>
        </p:nvSpPr>
        <p:spPr>
          <a:xfrm>
            <a:off x="661475" y="533797"/>
            <a:ext cx="6296860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Future Scope</a:t>
            </a:r>
            <a:endParaRPr lang="en-US" sz="300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DF12EA65-C6A1-8667-4667-F9258A3F0C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200845"/>
            <a:ext cx="3086023" cy="1550392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52BBA734-9A39-44B5-5941-53E9FE0A04D6}"/>
              </a:ext>
            </a:extLst>
          </p:cNvPr>
          <p:cNvSpPr/>
          <p:nvPr/>
        </p:nvSpPr>
        <p:spPr>
          <a:xfrm>
            <a:off x="910210" y="1373386"/>
            <a:ext cx="266475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Model Comparison</a:t>
            </a:r>
            <a:endParaRPr lang="en-US" sz="15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606ED8F3-300F-5256-1F77-5CCD6612F6AB}"/>
              </a:ext>
            </a:extLst>
          </p:cNvPr>
          <p:cNvSpPr/>
          <p:nvPr/>
        </p:nvSpPr>
        <p:spPr>
          <a:xfrm>
            <a:off x="910210" y="1688108"/>
            <a:ext cx="2664751" cy="890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Evaluate alternative machine learning models such as Random Forest, SVM, and XGBoost to identify the best performing classifier.</a:t>
            </a:r>
            <a:endParaRPr lang="en-US" sz="1200" dirty="0"/>
          </a:p>
        </p:txBody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B9FA1AFF-2447-E652-29DD-00381975A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2213" y="1200845"/>
            <a:ext cx="3086122" cy="1550392"/>
          </a:xfrm>
          <a:prstGeom prst="rect">
            <a:avLst/>
          </a:prstGeom>
        </p:spPr>
      </p:pic>
      <p:sp>
        <p:nvSpPr>
          <p:cNvPr id="15" name="Text 3">
            <a:extLst>
              <a:ext uri="{FF2B5EF4-FFF2-40B4-BE49-F238E27FC236}">
                <a16:creationId xmlns:a16="http://schemas.microsoft.com/office/drawing/2014/main" id="{928E6DF9-2E07-D1E2-2910-2EFDB7328524}"/>
              </a:ext>
            </a:extLst>
          </p:cNvPr>
          <p:cNvSpPr/>
          <p:nvPr/>
        </p:nvSpPr>
        <p:spPr>
          <a:xfrm>
            <a:off x="4120948" y="1373386"/>
            <a:ext cx="266485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Cross-Validation</a:t>
            </a:r>
            <a:endParaRPr lang="en-US" sz="150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FC3B9315-DDE8-9CDA-7CB0-29721E0FF685}"/>
              </a:ext>
            </a:extLst>
          </p:cNvPr>
          <p:cNvSpPr/>
          <p:nvPr/>
        </p:nvSpPr>
        <p:spPr>
          <a:xfrm>
            <a:off x="4120948" y="1688108"/>
            <a:ext cx="2664850" cy="890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Implement k-fold cross-validation to ensure model robustness and generalize performance across different data subsets.</a:t>
            </a:r>
            <a:endParaRPr lang="en-US" sz="1200" dirty="0"/>
          </a:p>
        </p:txBody>
      </p:sp>
      <p:pic>
        <p:nvPicPr>
          <p:cNvPr id="19" name="Image 3" descr="preencoded.png">
            <a:extLst>
              <a:ext uri="{FF2B5EF4-FFF2-40B4-BE49-F238E27FC236}">
                <a16:creationId xmlns:a16="http://schemas.microsoft.com/office/drawing/2014/main" id="{E1E7DFA4-FD7C-1C78-A141-CD0888E157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875955"/>
            <a:ext cx="3086023" cy="1550392"/>
          </a:xfrm>
          <a:prstGeom prst="rect">
            <a:avLst/>
          </a:prstGeom>
        </p:spPr>
      </p:pic>
      <p:sp>
        <p:nvSpPr>
          <p:cNvPr id="21" name="Text 5">
            <a:extLst>
              <a:ext uri="{FF2B5EF4-FFF2-40B4-BE49-F238E27FC236}">
                <a16:creationId xmlns:a16="http://schemas.microsoft.com/office/drawing/2014/main" id="{CCAA161C-EC77-7C5A-EE62-2C21F68E46BE}"/>
              </a:ext>
            </a:extLst>
          </p:cNvPr>
          <p:cNvSpPr/>
          <p:nvPr/>
        </p:nvSpPr>
        <p:spPr>
          <a:xfrm>
            <a:off x="910210" y="3048496"/>
            <a:ext cx="266475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Larger Datasets</a:t>
            </a:r>
            <a:endParaRPr lang="en-US" sz="15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9E2AFF00-EB40-BF4C-0386-954F61865950}"/>
              </a:ext>
            </a:extLst>
          </p:cNvPr>
          <p:cNvSpPr/>
          <p:nvPr/>
        </p:nvSpPr>
        <p:spPr>
          <a:xfrm>
            <a:off x="910210" y="3363218"/>
            <a:ext cx="2664751" cy="890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Integrate larger and more diverse heart disease datasets to enhance model training and improve predictive accuracy.</a:t>
            </a:r>
            <a:endParaRPr lang="en-US" sz="1200" dirty="0"/>
          </a:p>
        </p:txBody>
      </p:sp>
      <p:pic>
        <p:nvPicPr>
          <p:cNvPr id="25" name="Image 4" descr="preencoded.png">
            <a:extLst>
              <a:ext uri="{FF2B5EF4-FFF2-40B4-BE49-F238E27FC236}">
                <a16:creationId xmlns:a16="http://schemas.microsoft.com/office/drawing/2014/main" id="{2D301B55-F15B-E84B-EF8B-FDE2176E19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2213" y="2875955"/>
            <a:ext cx="3086122" cy="1550392"/>
          </a:xfrm>
          <a:prstGeom prst="rect">
            <a:avLst/>
          </a:prstGeom>
        </p:spPr>
      </p:pic>
      <p:sp>
        <p:nvSpPr>
          <p:cNvPr id="27" name="Text 7">
            <a:extLst>
              <a:ext uri="{FF2B5EF4-FFF2-40B4-BE49-F238E27FC236}">
                <a16:creationId xmlns:a16="http://schemas.microsoft.com/office/drawing/2014/main" id="{F878C93F-7FC7-6709-2949-AA6A78202C3C}"/>
              </a:ext>
            </a:extLst>
          </p:cNvPr>
          <p:cNvSpPr/>
          <p:nvPr/>
        </p:nvSpPr>
        <p:spPr>
          <a:xfrm>
            <a:off x="4120948" y="3048496"/>
            <a:ext cx="266485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Web Deployment</a:t>
            </a:r>
            <a:endParaRPr lang="en-US" sz="1500" dirty="0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EADE3E8A-3211-4851-D527-BA560E972C66}"/>
              </a:ext>
            </a:extLst>
          </p:cNvPr>
          <p:cNvSpPr/>
          <p:nvPr/>
        </p:nvSpPr>
        <p:spPr>
          <a:xfrm>
            <a:off x="4120948" y="3363218"/>
            <a:ext cx="2664850" cy="890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Develop a user-friendly web application to deploy the trained model, allowing for practical, real-time predictions.</a:t>
            </a:r>
            <a:endParaRPr lang="en-US" sz="1200" dirty="0"/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D21BAB75-7915-3A82-972E-E2075CA0A6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551065"/>
            <a:ext cx="3086023" cy="1773039"/>
          </a:xfrm>
          <a:prstGeom prst="rect">
            <a:avLst/>
          </a:prstGeom>
        </p:spPr>
      </p:pic>
      <p:sp>
        <p:nvSpPr>
          <p:cNvPr id="33" name="Text 9">
            <a:extLst>
              <a:ext uri="{FF2B5EF4-FFF2-40B4-BE49-F238E27FC236}">
                <a16:creationId xmlns:a16="http://schemas.microsoft.com/office/drawing/2014/main" id="{1DD1E212-D57F-7FE5-B8C3-C9F0674FBF1B}"/>
              </a:ext>
            </a:extLst>
          </p:cNvPr>
          <p:cNvSpPr/>
          <p:nvPr/>
        </p:nvSpPr>
        <p:spPr>
          <a:xfrm>
            <a:off x="910210" y="4723606"/>
            <a:ext cx="266475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D8CD1111-C457-4FE7-371A-9DE8602ED0A3}"/>
              </a:ext>
            </a:extLst>
          </p:cNvPr>
          <p:cNvSpPr/>
          <p:nvPr/>
        </p:nvSpPr>
        <p:spPr>
          <a:xfrm>
            <a:off x="910210" y="5038328"/>
            <a:ext cx="2664751" cy="1113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Explore advanced feature engineering techniques to extract more meaningful insights and potentially improve model performance from existing clinical data.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87918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E2E2E7C0-4987-1CFF-2B6C-18D8C22B1844}"/>
              </a:ext>
            </a:extLst>
          </p:cNvPr>
          <p:cNvSpPr/>
          <p:nvPr/>
        </p:nvSpPr>
        <p:spPr>
          <a:xfrm>
            <a:off x="661475" y="85377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Conclusion &amp; Key Takeaways</a:t>
            </a:r>
            <a:endParaRPr lang="en-US" sz="370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11642E67-DFFD-7A71-BB77-1AF55EA0A9AA}"/>
              </a:ext>
            </a:extLst>
          </p:cNvPr>
          <p:cNvSpPr/>
          <p:nvPr/>
        </p:nvSpPr>
        <p:spPr>
          <a:xfrm>
            <a:off x="661475" y="1822450"/>
            <a:ext cx="3496877" cy="2601218"/>
          </a:xfrm>
          <a:prstGeom prst="roundRect">
            <a:avLst>
              <a:gd name="adj" fmla="val 1090"/>
            </a:avLst>
          </a:prstGeom>
          <a:solidFill>
            <a:srgbClr val="F2EEEE"/>
          </a:solidFill>
          <a:ln/>
        </p:spPr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8EC4462E-EAC2-9D9D-5516-6C289EA7EBB3}"/>
              </a:ext>
            </a:extLst>
          </p:cNvPr>
          <p:cNvSpPr/>
          <p:nvPr/>
        </p:nvSpPr>
        <p:spPr>
          <a:xfrm>
            <a:off x="850482" y="2011462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Model Performance</a:t>
            </a:r>
            <a:endParaRPr lang="en-US" sz="185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73BA63E9-CAEE-0788-AB4D-B5E156F226A5}"/>
              </a:ext>
            </a:extLst>
          </p:cNvPr>
          <p:cNvSpPr/>
          <p:nvPr/>
        </p:nvSpPr>
        <p:spPr>
          <a:xfrm>
            <a:off x="850482" y="2420144"/>
            <a:ext cx="31188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Achieved </a:t>
            </a: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81.97% test accuracy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</a:t>
            </a: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85.12% training accuracy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on the UCI Heart Disease dataset, demonstrating the model's ability to generalize.</a:t>
            </a:r>
            <a:endParaRPr lang="en-US" sz="145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E387E84F-BF65-7BB6-D802-5BF324DCA4A9}"/>
              </a:ext>
            </a:extLst>
          </p:cNvPr>
          <p:cNvSpPr/>
          <p:nvPr/>
        </p:nvSpPr>
        <p:spPr>
          <a:xfrm>
            <a:off x="4347359" y="1822450"/>
            <a:ext cx="3496877" cy="2601218"/>
          </a:xfrm>
          <a:prstGeom prst="roundRect">
            <a:avLst>
              <a:gd name="adj" fmla="val 1090"/>
            </a:avLst>
          </a:prstGeom>
          <a:solidFill>
            <a:srgbClr val="F2EEEE"/>
          </a:solidFill>
          <a:ln/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AEF6F032-2BF9-AE38-90F2-1FC08CCEAC31}"/>
              </a:ext>
            </a:extLst>
          </p:cNvPr>
          <p:cNvSpPr/>
          <p:nvPr/>
        </p:nvSpPr>
        <p:spPr>
          <a:xfrm>
            <a:off x="4536366" y="2011462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Confusion Matrix Insights</a:t>
            </a:r>
            <a:endParaRPr lang="en-US" sz="185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361E69E3-05A6-586E-ED03-7F1561077CB9}"/>
              </a:ext>
            </a:extLst>
          </p:cNvPr>
          <p:cNvSpPr/>
          <p:nvPr/>
        </p:nvSpPr>
        <p:spPr>
          <a:xfrm>
            <a:off x="4536366" y="2420144"/>
            <a:ext cx="311886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confusion matrix provided a detailed view of correct and incorrect predictions, aiding in the understanding of the model's performance in identifying both positive and negative cases.</a:t>
            </a:r>
            <a:endParaRPr lang="en-US" sz="145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3E4D51BF-4BA5-70B4-3DB8-654A2CF2AD95}"/>
              </a:ext>
            </a:extLst>
          </p:cNvPr>
          <p:cNvSpPr/>
          <p:nvPr/>
        </p:nvSpPr>
        <p:spPr>
          <a:xfrm>
            <a:off x="8033244" y="1822450"/>
            <a:ext cx="3496877" cy="2601218"/>
          </a:xfrm>
          <a:prstGeom prst="roundRect">
            <a:avLst>
              <a:gd name="adj" fmla="val 1090"/>
            </a:avLst>
          </a:prstGeom>
          <a:solidFill>
            <a:srgbClr val="F2EEEE"/>
          </a:solidFill>
          <a:ln/>
        </p:spPr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5143FF58-F863-CEBD-2F6D-5DB28B52EEA8}"/>
              </a:ext>
            </a:extLst>
          </p:cNvPr>
          <p:cNvSpPr/>
          <p:nvPr/>
        </p:nvSpPr>
        <p:spPr>
          <a:xfrm>
            <a:off x="8222251" y="2011462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Predictive Value of Features</a:t>
            </a:r>
            <a:endParaRPr lang="en-US" sz="185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CB79AE75-7720-0F74-6002-571CCA44E4D3}"/>
              </a:ext>
            </a:extLst>
          </p:cNvPr>
          <p:cNvSpPr/>
          <p:nvPr/>
        </p:nvSpPr>
        <p:spPr>
          <a:xfrm>
            <a:off x="8222251" y="2420144"/>
            <a:ext cx="31188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Clinical features were shown to contain a strong predictive signal for the presence of heart disease, validating their utility in machine learning applications.</a:t>
            </a:r>
            <a:endParaRPr lang="en-US" sz="145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B875F09A-89E3-8140-D11A-183650765493}"/>
              </a:ext>
            </a:extLst>
          </p:cNvPr>
          <p:cNvSpPr/>
          <p:nvPr/>
        </p:nvSpPr>
        <p:spPr>
          <a:xfrm>
            <a:off x="661475" y="4612680"/>
            <a:ext cx="10868646" cy="1391543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EB503A52-04D7-08CC-A9B0-4C08887CC42C}"/>
              </a:ext>
            </a:extLst>
          </p:cNvPr>
          <p:cNvSpPr/>
          <p:nvPr/>
        </p:nvSpPr>
        <p:spPr>
          <a:xfrm>
            <a:off x="850482" y="4801691"/>
            <a:ext cx="1049063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Educational Prototype</a:t>
            </a:r>
            <a:endParaRPr lang="en-US" sz="185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1B1949B1-BBA8-5E6A-A09F-93EF779FFBB1}"/>
              </a:ext>
            </a:extLst>
          </p:cNvPr>
          <p:cNvSpPr/>
          <p:nvPr/>
        </p:nvSpPr>
        <p:spPr>
          <a:xfrm>
            <a:off x="850482" y="5210373"/>
            <a:ext cx="1049063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project serves as an </a:t>
            </a: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educational prototype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demonstrate machine learning principles and is not intended for clinical diagnostic use.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40002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77C8FD9-80E4-8C7B-5AB9-E402DAFB1E05}"/>
              </a:ext>
            </a:extLst>
          </p:cNvPr>
          <p:cNvSpPr/>
          <p:nvPr/>
        </p:nvSpPr>
        <p:spPr>
          <a:xfrm>
            <a:off x="661475" y="74979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References</a:t>
            </a:r>
            <a:endParaRPr lang="en-US" sz="370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6ACB5AA7-0061-AC00-4832-9FB8B5D54329}"/>
              </a:ext>
            </a:extLst>
          </p:cNvPr>
          <p:cNvSpPr/>
          <p:nvPr/>
        </p:nvSpPr>
        <p:spPr>
          <a:xfrm>
            <a:off x="661475" y="1718469"/>
            <a:ext cx="3496877" cy="2758281"/>
          </a:xfrm>
          <a:prstGeom prst="roundRect">
            <a:avLst>
              <a:gd name="adj" fmla="val 1028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FF527610-1A7F-ABE1-F910-431A6B7EB86C}"/>
              </a:ext>
            </a:extLst>
          </p:cNvPr>
          <p:cNvSpPr/>
          <p:nvPr/>
        </p:nvSpPr>
        <p:spPr>
          <a:xfrm>
            <a:off x="875881" y="193288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UCI Heart Disease Dataset</a:t>
            </a:r>
            <a:endParaRPr lang="en-US" sz="185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B9ABCC4-A114-718F-30E0-06CC12F1E598}"/>
              </a:ext>
            </a:extLst>
          </p:cNvPr>
          <p:cNvSpPr/>
          <p:nvPr/>
        </p:nvSpPr>
        <p:spPr>
          <a:xfrm>
            <a:off x="875881" y="2341563"/>
            <a:ext cx="3068065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primary source of clinical data, specifically the Cleveland subset, used for training and testing.</a:t>
            </a:r>
          </a:p>
          <a:p>
            <a:pPr>
              <a:lnSpc>
                <a:spcPct val="133000"/>
              </a:lnSpc>
            </a:pPr>
            <a:endParaRPr lang="en-US" sz="145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887E1E1A-9479-3D6D-2742-41F86CC2D4F4}"/>
              </a:ext>
            </a:extLst>
          </p:cNvPr>
          <p:cNvSpPr/>
          <p:nvPr/>
        </p:nvSpPr>
        <p:spPr>
          <a:xfrm>
            <a:off x="4347359" y="1718469"/>
            <a:ext cx="3496877" cy="2758281"/>
          </a:xfrm>
          <a:prstGeom prst="roundRect">
            <a:avLst>
              <a:gd name="adj" fmla="val 1028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9A4223A7-4CF1-E5DC-826E-16D17B22CAFB}"/>
              </a:ext>
            </a:extLst>
          </p:cNvPr>
          <p:cNvSpPr/>
          <p:nvPr/>
        </p:nvSpPr>
        <p:spPr>
          <a:xfrm>
            <a:off x="4561766" y="193288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Project Dataset</a:t>
            </a:r>
            <a:endParaRPr lang="en-US" sz="185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6D599327-DF3B-A7CC-3C12-21C1969630A7}"/>
              </a:ext>
            </a:extLst>
          </p:cNvPr>
          <p:cNvSpPr/>
          <p:nvPr/>
        </p:nvSpPr>
        <p:spPr>
          <a:xfrm>
            <a:off x="4561766" y="2341563"/>
            <a:ext cx="306806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preprocessed and cleaned version of the Cleveland subset, locally stored as a CSV file for consistent project use.</a:t>
            </a:r>
            <a:endParaRPr lang="en-US" sz="145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237252C7-62C6-5B4E-5AE3-CD417386553B}"/>
              </a:ext>
            </a:extLst>
          </p:cNvPr>
          <p:cNvSpPr/>
          <p:nvPr/>
        </p:nvSpPr>
        <p:spPr>
          <a:xfrm>
            <a:off x="8033244" y="1718469"/>
            <a:ext cx="3496877" cy="2758281"/>
          </a:xfrm>
          <a:prstGeom prst="roundRect">
            <a:avLst>
              <a:gd name="adj" fmla="val 1028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358F3100-A0F0-72A2-522E-CB68BC566636}"/>
              </a:ext>
            </a:extLst>
          </p:cNvPr>
          <p:cNvSpPr/>
          <p:nvPr/>
        </p:nvSpPr>
        <p:spPr>
          <a:xfrm>
            <a:off x="8247650" y="1932880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Scikit-learn Logistic Regression</a:t>
            </a:r>
            <a:endParaRPr lang="en-US" sz="185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02802648-9AD3-8D20-252A-6D972938B124}"/>
              </a:ext>
            </a:extLst>
          </p:cNvPr>
          <p:cNvSpPr/>
          <p:nvPr/>
        </p:nvSpPr>
        <p:spPr>
          <a:xfrm>
            <a:off x="8247650" y="2636838"/>
            <a:ext cx="3068065" cy="1625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Standard machine learning library used for implementing the binary classification model and associated utilities (train-test split, metrics).</a:t>
            </a:r>
            <a:endParaRPr lang="en-US" sz="145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B94B65F5-177C-019D-03EE-81BAD0541411}"/>
              </a:ext>
            </a:extLst>
          </p:cNvPr>
          <p:cNvSpPr/>
          <p:nvPr/>
        </p:nvSpPr>
        <p:spPr>
          <a:xfrm>
            <a:off x="661475" y="4665762"/>
            <a:ext cx="10868646" cy="1442343"/>
          </a:xfrm>
          <a:prstGeom prst="roundRect">
            <a:avLst>
              <a:gd name="adj" fmla="val 1966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69ADD050-895D-3160-33A0-5B630782BEEA}"/>
              </a:ext>
            </a:extLst>
          </p:cNvPr>
          <p:cNvSpPr/>
          <p:nvPr/>
        </p:nvSpPr>
        <p:spPr>
          <a:xfrm>
            <a:off x="875881" y="4880173"/>
            <a:ext cx="104398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Limited Sources Note</a:t>
            </a:r>
            <a:endParaRPr lang="en-US" sz="185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F338D2C7-0CF1-FE39-7CAC-5C48B9AB4475}"/>
              </a:ext>
            </a:extLst>
          </p:cNvPr>
          <p:cNvSpPr/>
          <p:nvPr/>
        </p:nvSpPr>
        <p:spPr>
          <a:xfrm>
            <a:off x="875881" y="5288855"/>
            <a:ext cx="104398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project relies on a single public dataset; robust real-world applications would require broader and more diverse data for validation.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4281862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01883BC-3B7F-0BA8-37AD-207D97214067}"/>
              </a:ext>
            </a:extLst>
          </p:cNvPr>
          <p:cNvSpPr/>
          <p:nvPr/>
        </p:nvSpPr>
        <p:spPr>
          <a:xfrm>
            <a:off x="661475" y="212248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Thank You</a:t>
            </a:r>
            <a:endParaRPr lang="en-US" sz="37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BBC221A-05CC-2D6A-B336-B6C57478B178}"/>
              </a:ext>
            </a:extLst>
          </p:cNvPr>
          <p:cNvSpPr/>
          <p:nvPr/>
        </p:nvSpPr>
        <p:spPr>
          <a:xfrm>
            <a:off x="356682" y="309116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 appreciate your time and attention to this project.</a:t>
            </a:r>
            <a:endParaRPr lang="en-US" sz="145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C2C09086-8284-F207-1C17-6B63F474298F}"/>
              </a:ext>
            </a:extLst>
          </p:cNvPr>
          <p:cNvSpPr/>
          <p:nvPr/>
        </p:nvSpPr>
        <p:spPr>
          <a:xfrm>
            <a:off x="661475" y="367704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Questions &amp; Answers</a:t>
            </a:r>
            <a:endParaRPr lang="en-US" sz="295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5417389-AE5C-9BE2-C0F0-1EB31FB9118B}"/>
              </a:ext>
            </a:extLst>
          </p:cNvPr>
          <p:cNvSpPr/>
          <p:nvPr/>
        </p:nvSpPr>
        <p:spPr>
          <a:xfrm>
            <a:off x="356682" y="4432995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 are now happy to answer any questions you may have.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411800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1016</Words>
  <Application>Microsoft Office PowerPoint</Application>
  <PresentationFormat>Widescreen</PresentationFormat>
  <Paragraphs>158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Crimson Pro Light</vt:lpstr>
      <vt:lpstr>Crimson Pro SemiBold</vt:lpstr>
      <vt:lpstr>Heebo</vt:lpstr>
      <vt:lpstr>Heebo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TULIKIA PRAJAPATI</dc:creator>
  <cp:lastModifiedBy>TULIKIA PRAJAPATI</cp:lastModifiedBy>
  <cp:revision>3</cp:revision>
  <dcterms:created xsi:type="dcterms:W3CDTF">2026-08-25T03:25:07Z</dcterms:created>
  <dcterms:modified xsi:type="dcterms:W3CDTF">2026-09-19T05:43:42Z</dcterms:modified>
</cp:coreProperties>
</file>